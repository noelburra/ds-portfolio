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81" r:id="rId3"/>
    <p:sldId id="269" r:id="rId4"/>
    <p:sldId id="285" r:id="rId5"/>
    <p:sldId id="283" r:id="rId6"/>
    <p:sldId id="262" r:id="rId7"/>
    <p:sldId id="277" r:id="rId8"/>
    <p:sldId id="272" r:id="rId9"/>
    <p:sldId id="271" r:id="rId10"/>
    <p:sldId id="270" r:id="rId11"/>
    <p:sldId id="278" r:id="rId12"/>
    <p:sldId id="263" r:id="rId13"/>
    <p:sldId id="264" r:id="rId14"/>
    <p:sldId id="274" r:id="rId15"/>
    <p:sldId id="273" r:id="rId16"/>
    <p:sldId id="260" r:id="rId17"/>
    <p:sldId id="261" r:id="rId18"/>
    <p:sldId id="280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FE0"/>
    <a:srgbClr val="D69A9B"/>
    <a:srgbClr val="DE4B4E"/>
    <a:srgbClr val="F00A0D"/>
    <a:srgbClr val="E69A9E"/>
    <a:srgbClr val="E6101B"/>
    <a:srgbClr val="D9CC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C98646-39FE-1F8E-5C2A-FCE32218CF96}" v="6" dt="2024-12-03T19:43:27.297"/>
    <p1510:client id="{47B579BF-DFC7-A2EA-3691-71E675F07851}" v="4232" dt="2024-12-04T20:50:16.836"/>
    <p1510:client id="{5A447942-1D2D-DCE3-4A8F-5DA22D5BE135}" v="571" dt="2024-12-04T15:24:16.455"/>
    <p1510:client id="{6E027565-EBE2-FE31-C93D-9ADF7984C82B}" v="3" dt="2024-12-04T05:06:02.550"/>
    <p1510:client id="{831B100F-FF7C-88A8-6293-0E1197C34BF8}" v="171" dt="2024-12-03T19:30:04.648"/>
    <p1510:client id="{87A86A3B-63CD-34CA-48F0-7BBCFBEB091D}" v="88" dt="2024-12-03T19:21:30.457"/>
    <p1510:client id="{A83B79C5-8746-D503-7FCC-A64AA6C9CE04}" v="784" dt="2024-12-03T19:42:16.560"/>
    <p1510:client id="{ABF50260-0F8D-DF6C-66B1-417668ADCFB3}" v="2" dt="2024-12-05T08:05:59.622"/>
    <p1510:client id="{CDEB4153-A494-6874-ADE8-A97D5DA4435F}" v="60" dt="2024-12-04T03:52:41.5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4"/>
  </p:normalViewPr>
  <p:slideViewPr>
    <p:cSldViewPr snapToGrid="0">
      <p:cViewPr varScale="1">
        <p:scale>
          <a:sx n="106" d="100"/>
          <a:sy n="106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63786D-C72D-4CC3-8B24-B962CC84122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A7D258BE-3298-41E2-97C1-7B5574C5EC01}">
      <dgm:prSet phldrT="[Text]" phldr="0"/>
      <dgm:spPr/>
      <dgm:t>
        <a:bodyPr/>
        <a:lstStyle/>
        <a:p>
          <a:pPr rtl="0"/>
          <a:r>
            <a:rPr lang="en-US">
              <a:latin typeface="Georgia"/>
            </a:rPr>
            <a:t>Geopolitical Events Occur</a:t>
          </a:r>
        </a:p>
      </dgm:t>
    </dgm:pt>
    <dgm:pt modelId="{C2177F90-99C0-44F4-98E0-A5737A9067ED}" type="parTrans" cxnId="{38801186-FD75-470B-A162-A0BF79F2AE68}">
      <dgm:prSet/>
      <dgm:spPr/>
    </dgm:pt>
    <dgm:pt modelId="{F3B12C95-720D-4F30-B3A9-6209DB924401}" type="sibTrans" cxnId="{38801186-FD75-470B-A162-A0BF79F2AE68}">
      <dgm:prSet/>
      <dgm:spPr/>
    </dgm:pt>
    <dgm:pt modelId="{FAB764F2-E00B-41FE-B113-8E9F805DE551}">
      <dgm:prSet phldrT="[Text]" phldr="0"/>
      <dgm:spPr/>
      <dgm:t>
        <a:bodyPr/>
        <a:lstStyle/>
        <a:p>
          <a:pPr rtl="0"/>
          <a:r>
            <a:rPr lang="en-US">
              <a:latin typeface="Georgia"/>
            </a:rPr>
            <a:t>Macroeconomic Factors Change</a:t>
          </a:r>
        </a:p>
      </dgm:t>
    </dgm:pt>
    <dgm:pt modelId="{D6463EC0-CAC6-4056-BD7F-B93A8E7D14D8}" type="parTrans" cxnId="{20A6D86B-6828-4247-901B-957F26AE2E0A}">
      <dgm:prSet/>
      <dgm:spPr/>
    </dgm:pt>
    <dgm:pt modelId="{55E10676-A338-4851-BD82-5FE0099F21D7}" type="sibTrans" cxnId="{20A6D86B-6828-4247-901B-957F26AE2E0A}">
      <dgm:prSet/>
      <dgm:spPr/>
    </dgm:pt>
    <dgm:pt modelId="{09B41D49-BC3B-4876-8843-F548DDFD5540}">
      <dgm:prSet phldrT="[Text]" phldr="0"/>
      <dgm:spPr/>
      <dgm:t>
        <a:bodyPr/>
        <a:lstStyle/>
        <a:p>
          <a:pPr rtl="0"/>
          <a:r>
            <a:rPr lang="en-US">
              <a:latin typeface="Georgia"/>
            </a:rPr>
            <a:t>Commodity Prices Affected</a:t>
          </a:r>
        </a:p>
      </dgm:t>
    </dgm:pt>
    <dgm:pt modelId="{AE9494A9-4C25-4FEF-941D-13136DBEDA14}" type="parTrans" cxnId="{9E9AF465-6C8D-4CA0-AA12-A5CA0615F89D}">
      <dgm:prSet/>
      <dgm:spPr/>
    </dgm:pt>
    <dgm:pt modelId="{3F74B2FC-913D-42B5-B0F6-3742AF8987A3}" type="sibTrans" cxnId="{9E9AF465-6C8D-4CA0-AA12-A5CA0615F89D}">
      <dgm:prSet/>
      <dgm:spPr/>
    </dgm:pt>
    <dgm:pt modelId="{FAE09322-9205-4F59-8058-2542841A852E}" type="pres">
      <dgm:prSet presAssocID="{AD63786D-C72D-4CC3-8B24-B962CC841227}" presName="Name0" presStyleCnt="0">
        <dgm:presLayoutVars>
          <dgm:dir/>
          <dgm:animLvl val="lvl"/>
          <dgm:resizeHandles val="exact"/>
        </dgm:presLayoutVars>
      </dgm:prSet>
      <dgm:spPr/>
    </dgm:pt>
    <dgm:pt modelId="{A3A253D8-CAF7-4CC5-B71F-18D51CEADE2D}" type="pres">
      <dgm:prSet presAssocID="{A7D258BE-3298-41E2-97C1-7B5574C5EC01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0CC87E89-3CC9-4E0D-8119-1E537968CF4A}" type="pres">
      <dgm:prSet presAssocID="{F3B12C95-720D-4F30-B3A9-6209DB924401}" presName="parTxOnlySpace" presStyleCnt="0"/>
      <dgm:spPr/>
    </dgm:pt>
    <dgm:pt modelId="{C4F5FAC4-9AF9-4FFF-832D-044BCF498752}" type="pres">
      <dgm:prSet presAssocID="{FAB764F2-E00B-41FE-B113-8E9F805DE551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4F139B6B-1833-40C2-A5D4-F5B6D6F8DA97}" type="pres">
      <dgm:prSet presAssocID="{55E10676-A338-4851-BD82-5FE0099F21D7}" presName="parTxOnlySpace" presStyleCnt="0"/>
      <dgm:spPr/>
    </dgm:pt>
    <dgm:pt modelId="{0F48591F-0D37-4F93-A1E4-1835A7186AE1}" type="pres">
      <dgm:prSet presAssocID="{09B41D49-BC3B-4876-8843-F548DDFD5540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897B081A-2C8E-413D-A636-35032CC8E121}" type="presOf" srcId="{FAB764F2-E00B-41FE-B113-8E9F805DE551}" destId="{C4F5FAC4-9AF9-4FFF-832D-044BCF498752}" srcOrd="0" destOrd="0" presId="urn:microsoft.com/office/officeart/2005/8/layout/chevron1"/>
    <dgm:cxn modelId="{6D00443D-B6AD-4270-AB0B-6D190D157362}" type="presOf" srcId="{AD63786D-C72D-4CC3-8B24-B962CC841227}" destId="{FAE09322-9205-4F59-8058-2542841A852E}" srcOrd="0" destOrd="0" presId="urn:microsoft.com/office/officeart/2005/8/layout/chevron1"/>
    <dgm:cxn modelId="{C595795C-947C-494D-8FD4-7F21A7591FD8}" type="presOf" srcId="{A7D258BE-3298-41E2-97C1-7B5574C5EC01}" destId="{A3A253D8-CAF7-4CC5-B71F-18D51CEADE2D}" srcOrd="0" destOrd="0" presId="urn:microsoft.com/office/officeart/2005/8/layout/chevron1"/>
    <dgm:cxn modelId="{9E9AF465-6C8D-4CA0-AA12-A5CA0615F89D}" srcId="{AD63786D-C72D-4CC3-8B24-B962CC841227}" destId="{09B41D49-BC3B-4876-8843-F548DDFD5540}" srcOrd="2" destOrd="0" parTransId="{AE9494A9-4C25-4FEF-941D-13136DBEDA14}" sibTransId="{3F74B2FC-913D-42B5-B0F6-3742AF8987A3}"/>
    <dgm:cxn modelId="{20A6D86B-6828-4247-901B-957F26AE2E0A}" srcId="{AD63786D-C72D-4CC3-8B24-B962CC841227}" destId="{FAB764F2-E00B-41FE-B113-8E9F805DE551}" srcOrd="1" destOrd="0" parTransId="{D6463EC0-CAC6-4056-BD7F-B93A8E7D14D8}" sibTransId="{55E10676-A338-4851-BD82-5FE0099F21D7}"/>
    <dgm:cxn modelId="{38801186-FD75-470B-A162-A0BF79F2AE68}" srcId="{AD63786D-C72D-4CC3-8B24-B962CC841227}" destId="{A7D258BE-3298-41E2-97C1-7B5574C5EC01}" srcOrd="0" destOrd="0" parTransId="{C2177F90-99C0-44F4-98E0-A5737A9067ED}" sibTransId="{F3B12C95-720D-4F30-B3A9-6209DB924401}"/>
    <dgm:cxn modelId="{A202CFDB-7AB1-4D68-841F-55FFB92380FE}" type="presOf" srcId="{09B41D49-BC3B-4876-8843-F548DDFD5540}" destId="{0F48591F-0D37-4F93-A1E4-1835A7186AE1}" srcOrd="0" destOrd="0" presId="urn:microsoft.com/office/officeart/2005/8/layout/chevron1"/>
    <dgm:cxn modelId="{854D1295-6C77-4FA6-8A3F-20A06067EE67}" type="presParOf" srcId="{FAE09322-9205-4F59-8058-2542841A852E}" destId="{A3A253D8-CAF7-4CC5-B71F-18D51CEADE2D}" srcOrd="0" destOrd="0" presId="urn:microsoft.com/office/officeart/2005/8/layout/chevron1"/>
    <dgm:cxn modelId="{9DA7C833-D930-430F-BD3C-4DA1E050DC6B}" type="presParOf" srcId="{FAE09322-9205-4F59-8058-2542841A852E}" destId="{0CC87E89-3CC9-4E0D-8119-1E537968CF4A}" srcOrd="1" destOrd="0" presId="urn:microsoft.com/office/officeart/2005/8/layout/chevron1"/>
    <dgm:cxn modelId="{825E8A51-44C7-48F3-B68A-76EC0090766C}" type="presParOf" srcId="{FAE09322-9205-4F59-8058-2542841A852E}" destId="{C4F5FAC4-9AF9-4FFF-832D-044BCF498752}" srcOrd="2" destOrd="0" presId="urn:microsoft.com/office/officeart/2005/8/layout/chevron1"/>
    <dgm:cxn modelId="{6F61DE2A-FF54-4AC1-AEFA-346B1F9CA143}" type="presParOf" srcId="{FAE09322-9205-4F59-8058-2542841A852E}" destId="{4F139B6B-1833-40C2-A5D4-F5B6D6F8DA97}" srcOrd="3" destOrd="0" presId="urn:microsoft.com/office/officeart/2005/8/layout/chevron1"/>
    <dgm:cxn modelId="{678C8FAB-5109-4BF6-ADA8-71990D0D21F7}" type="presParOf" srcId="{FAE09322-9205-4F59-8058-2542841A852E}" destId="{0F48591F-0D37-4F93-A1E4-1835A7186AE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62B670-4F74-4968-A9FD-57DEAF4D7AB9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87C019-D4BE-405C-A20A-EFFD28C5B9F6}">
      <dgm:prSet phldrT="[Text]" phldr="0"/>
      <dgm:spPr/>
      <dgm:t>
        <a:bodyPr/>
        <a:lstStyle/>
        <a:p>
          <a:pPr rtl="0"/>
          <a:r>
            <a:rPr lang="en-US">
              <a:latin typeface="Georgia"/>
            </a:rPr>
            <a:t>Collect/Analyze Data</a:t>
          </a:r>
        </a:p>
      </dgm:t>
    </dgm:pt>
    <dgm:pt modelId="{D6AA7176-C6DC-4757-AAA2-DC70F2761A66}" type="parTrans" cxnId="{0C0DF00C-68DA-4B0D-8D0D-0A2E868AF3F0}">
      <dgm:prSet/>
      <dgm:spPr/>
      <dgm:t>
        <a:bodyPr/>
        <a:lstStyle/>
        <a:p>
          <a:endParaRPr lang="en-US"/>
        </a:p>
      </dgm:t>
    </dgm:pt>
    <dgm:pt modelId="{4D066955-F96D-4338-BD43-5F930AC0B4FE}" type="sibTrans" cxnId="{0C0DF00C-68DA-4B0D-8D0D-0A2E868AF3F0}">
      <dgm:prSet/>
      <dgm:spPr/>
      <dgm:t>
        <a:bodyPr/>
        <a:lstStyle/>
        <a:p>
          <a:endParaRPr lang="en-US"/>
        </a:p>
      </dgm:t>
    </dgm:pt>
    <dgm:pt modelId="{83CAF3A2-6F86-41C6-85B3-D8A62C784A76}">
      <dgm:prSet phldrT="[Text]" phldr="0"/>
      <dgm:spPr/>
      <dgm:t>
        <a:bodyPr/>
        <a:lstStyle/>
        <a:p>
          <a:pPr rtl="0"/>
          <a:r>
            <a:rPr lang="en-US">
              <a:latin typeface="Georgia"/>
            </a:rPr>
            <a:t>Source a variety of macroeconomic factors (daily, monthly, yearly) to compare to commodity price returns</a:t>
          </a:r>
        </a:p>
      </dgm:t>
    </dgm:pt>
    <dgm:pt modelId="{012F2C58-5959-4DC7-A3F4-82CAD5DB16DF}" type="parTrans" cxnId="{112247A9-8A98-4634-8584-0E1CFC12A7FF}">
      <dgm:prSet/>
      <dgm:spPr/>
      <dgm:t>
        <a:bodyPr/>
        <a:lstStyle/>
        <a:p>
          <a:endParaRPr lang="en-US"/>
        </a:p>
      </dgm:t>
    </dgm:pt>
    <dgm:pt modelId="{B1C6ACB3-15C5-431E-B3E3-DB1C5F9C6544}" type="sibTrans" cxnId="{112247A9-8A98-4634-8584-0E1CFC12A7FF}">
      <dgm:prSet/>
      <dgm:spPr/>
      <dgm:t>
        <a:bodyPr/>
        <a:lstStyle/>
        <a:p>
          <a:endParaRPr lang="en-US"/>
        </a:p>
      </dgm:t>
    </dgm:pt>
    <dgm:pt modelId="{6B588CBE-244E-457B-9CB5-AA6A21C417A9}">
      <dgm:prSet phldrT="[Text]" phldr="0"/>
      <dgm:spPr/>
      <dgm:t>
        <a:bodyPr/>
        <a:lstStyle/>
        <a:p>
          <a:pPr rtl="0"/>
          <a:r>
            <a:rPr lang="en-US">
              <a:latin typeface="Georgia"/>
            </a:rPr>
            <a:t>Talk to professors/experts to derive key historical context, keeping in mind key ethical concerns/biases</a:t>
          </a:r>
        </a:p>
      </dgm:t>
    </dgm:pt>
    <dgm:pt modelId="{9ADBA9B1-12E6-474C-AC60-51DE906970A2}" type="parTrans" cxnId="{6CF95E6E-3A75-4490-A5AF-59D13AAFC691}">
      <dgm:prSet/>
      <dgm:spPr/>
      <dgm:t>
        <a:bodyPr/>
        <a:lstStyle/>
        <a:p>
          <a:endParaRPr lang="en-US"/>
        </a:p>
      </dgm:t>
    </dgm:pt>
    <dgm:pt modelId="{5C7B3CDB-95A0-47DE-B61E-8305F8C96AE7}" type="sibTrans" cxnId="{6CF95E6E-3A75-4490-A5AF-59D13AAFC691}">
      <dgm:prSet/>
      <dgm:spPr/>
      <dgm:t>
        <a:bodyPr/>
        <a:lstStyle/>
        <a:p>
          <a:endParaRPr lang="en-US"/>
        </a:p>
      </dgm:t>
    </dgm:pt>
    <dgm:pt modelId="{8AA0589F-461F-4F52-8658-65A0E1E3160E}">
      <dgm:prSet phldrT="[Text]" phldr="0"/>
      <dgm:spPr/>
      <dgm:t>
        <a:bodyPr/>
        <a:lstStyle/>
        <a:p>
          <a:pPr rtl="0"/>
          <a:r>
            <a:rPr lang="en-US">
              <a:latin typeface="Georgia"/>
            </a:rPr>
            <a:t>Conduct Analyses</a:t>
          </a:r>
        </a:p>
      </dgm:t>
    </dgm:pt>
    <dgm:pt modelId="{82A9A03E-F184-4A42-B5F9-5695B5B2C986}" type="parTrans" cxnId="{40CD9A18-35EA-48C2-8EBE-2A2F1583827E}">
      <dgm:prSet/>
      <dgm:spPr/>
      <dgm:t>
        <a:bodyPr/>
        <a:lstStyle/>
        <a:p>
          <a:endParaRPr lang="en-US"/>
        </a:p>
      </dgm:t>
    </dgm:pt>
    <dgm:pt modelId="{89ACD03D-D328-4C04-9892-1B4D607D8B53}" type="sibTrans" cxnId="{40CD9A18-35EA-48C2-8EBE-2A2F1583827E}">
      <dgm:prSet/>
      <dgm:spPr/>
      <dgm:t>
        <a:bodyPr/>
        <a:lstStyle/>
        <a:p>
          <a:endParaRPr lang="en-US"/>
        </a:p>
      </dgm:t>
    </dgm:pt>
    <dgm:pt modelId="{9B599C85-5956-4A0F-BD3E-A620AD5EC477}">
      <dgm:prSet phldrT="[Text]" phldr="0"/>
      <dgm:spPr/>
      <dgm:t>
        <a:bodyPr/>
        <a:lstStyle/>
        <a:p>
          <a:pPr rtl="0"/>
          <a:r>
            <a:rPr lang="en-US">
              <a:latin typeface="Georgia"/>
            </a:rPr>
            <a:t>Clean and read in the data using a variety of libraries and formulas (YFinance, Pandas Datareader)</a:t>
          </a:r>
        </a:p>
      </dgm:t>
    </dgm:pt>
    <dgm:pt modelId="{F7B0CDF6-5C71-4C10-A0B5-2980B9FA086F}" type="parTrans" cxnId="{682ACB4F-DD41-4A7C-BA6C-A787CAB37EA2}">
      <dgm:prSet/>
      <dgm:spPr/>
      <dgm:t>
        <a:bodyPr/>
        <a:lstStyle/>
        <a:p>
          <a:endParaRPr lang="en-US"/>
        </a:p>
      </dgm:t>
    </dgm:pt>
    <dgm:pt modelId="{5AD253F7-3060-44A0-9000-0483CB5D9186}" type="sibTrans" cxnId="{682ACB4F-DD41-4A7C-BA6C-A787CAB37EA2}">
      <dgm:prSet/>
      <dgm:spPr/>
      <dgm:t>
        <a:bodyPr/>
        <a:lstStyle/>
        <a:p>
          <a:endParaRPr lang="en-US"/>
        </a:p>
      </dgm:t>
    </dgm:pt>
    <dgm:pt modelId="{B582A538-7718-4E93-83EC-1241AE3A835F}">
      <dgm:prSet phldrT="[Text]" phldr="0"/>
      <dgm:spPr/>
      <dgm:t>
        <a:bodyPr/>
        <a:lstStyle/>
        <a:p>
          <a:pPr rtl="0"/>
          <a:r>
            <a:rPr lang="en-US">
              <a:latin typeface="Georgia"/>
            </a:rPr>
            <a:t>Generate a multitude of visualizations to display correlations, and calculate supporting correlation coefficients</a:t>
          </a:r>
        </a:p>
      </dgm:t>
    </dgm:pt>
    <dgm:pt modelId="{393CDD72-D88F-4135-B68F-1675E9719D41}" type="parTrans" cxnId="{9371E302-7E65-4B6F-9603-225167A47CC0}">
      <dgm:prSet/>
      <dgm:spPr/>
      <dgm:t>
        <a:bodyPr/>
        <a:lstStyle/>
        <a:p>
          <a:endParaRPr lang="en-US"/>
        </a:p>
      </dgm:t>
    </dgm:pt>
    <dgm:pt modelId="{0BE2C303-0A8A-458C-9135-13331CE6AC65}" type="sibTrans" cxnId="{9371E302-7E65-4B6F-9603-225167A47CC0}">
      <dgm:prSet/>
      <dgm:spPr/>
      <dgm:t>
        <a:bodyPr/>
        <a:lstStyle/>
        <a:p>
          <a:endParaRPr lang="en-US"/>
        </a:p>
      </dgm:t>
    </dgm:pt>
    <dgm:pt modelId="{00A0E8E7-3F88-4309-B91F-F5DE80EB1BC6}">
      <dgm:prSet phldrT="[Text]" phldr="0"/>
      <dgm:spPr/>
      <dgm:t>
        <a:bodyPr/>
        <a:lstStyle/>
        <a:p>
          <a:pPr rtl="0"/>
          <a:r>
            <a:rPr lang="en-US">
              <a:latin typeface="Georgia"/>
            </a:rPr>
            <a:t>Draw Conclusions</a:t>
          </a:r>
        </a:p>
      </dgm:t>
    </dgm:pt>
    <dgm:pt modelId="{4BB9E13C-32A1-4C32-A1AD-D4446C896DCB}" type="parTrans" cxnId="{28DA6035-C115-4473-93A4-595C0A102407}">
      <dgm:prSet/>
      <dgm:spPr/>
      <dgm:t>
        <a:bodyPr/>
        <a:lstStyle/>
        <a:p>
          <a:endParaRPr lang="en-US"/>
        </a:p>
      </dgm:t>
    </dgm:pt>
    <dgm:pt modelId="{BFAE14B8-E913-4825-ADA5-8B4E8C4B51F6}" type="sibTrans" cxnId="{28DA6035-C115-4473-93A4-595C0A102407}">
      <dgm:prSet/>
      <dgm:spPr/>
      <dgm:t>
        <a:bodyPr/>
        <a:lstStyle/>
        <a:p>
          <a:endParaRPr lang="en-US"/>
        </a:p>
      </dgm:t>
    </dgm:pt>
    <dgm:pt modelId="{B8E8652B-82BE-4FFD-A031-1DC5CBCC17E8}">
      <dgm:prSet phldrT="[Text]" phldr="0"/>
      <dgm:spPr/>
      <dgm:t>
        <a:bodyPr/>
        <a:lstStyle/>
        <a:p>
          <a:pPr rtl="0"/>
          <a:r>
            <a:rPr lang="en-US">
              <a:latin typeface="Georgia"/>
            </a:rPr>
            <a:t>Analyze which factors are most/least correlated</a:t>
          </a:r>
        </a:p>
      </dgm:t>
    </dgm:pt>
    <dgm:pt modelId="{815FEB4F-69B2-4553-87F3-32EFB354D180}" type="parTrans" cxnId="{5B2DF10E-D2E0-4901-9E97-34A07560ABA7}">
      <dgm:prSet/>
      <dgm:spPr/>
      <dgm:t>
        <a:bodyPr/>
        <a:lstStyle/>
        <a:p>
          <a:endParaRPr lang="en-US"/>
        </a:p>
      </dgm:t>
    </dgm:pt>
    <dgm:pt modelId="{64CD5E9F-267B-4F01-945B-BB2FC7E800C9}" type="sibTrans" cxnId="{5B2DF10E-D2E0-4901-9E97-34A07560ABA7}">
      <dgm:prSet/>
      <dgm:spPr/>
      <dgm:t>
        <a:bodyPr/>
        <a:lstStyle/>
        <a:p>
          <a:endParaRPr lang="en-US"/>
        </a:p>
      </dgm:t>
    </dgm:pt>
    <dgm:pt modelId="{7E26C3BB-00C7-444E-AF2C-655314C62BEE}">
      <dgm:prSet phldrT="[Text]" phldr="0"/>
      <dgm:spPr/>
      <dgm:t>
        <a:bodyPr/>
        <a:lstStyle/>
        <a:p>
          <a:pPr rtl="0"/>
          <a:r>
            <a:rPr lang="en-US">
              <a:latin typeface="Georgia"/>
            </a:rPr>
            <a:t>Combine these findings with our understanding of the historical context to deliver efficient conclusions for the problem question</a:t>
          </a:r>
        </a:p>
      </dgm:t>
    </dgm:pt>
    <dgm:pt modelId="{C223DFCF-5B2F-4685-8CAD-A4E1412485EB}" type="parTrans" cxnId="{3566D571-7858-4F68-AB37-D8F1D453BA7A}">
      <dgm:prSet/>
      <dgm:spPr/>
      <dgm:t>
        <a:bodyPr/>
        <a:lstStyle/>
        <a:p>
          <a:endParaRPr lang="en-US"/>
        </a:p>
      </dgm:t>
    </dgm:pt>
    <dgm:pt modelId="{ECE065B5-2E5E-471D-9A59-EF15739A4A14}" type="sibTrans" cxnId="{3566D571-7858-4F68-AB37-D8F1D453BA7A}">
      <dgm:prSet/>
      <dgm:spPr/>
      <dgm:t>
        <a:bodyPr/>
        <a:lstStyle/>
        <a:p>
          <a:endParaRPr lang="en-US"/>
        </a:p>
      </dgm:t>
    </dgm:pt>
    <dgm:pt modelId="{5ABE798E-E1B1-4F71-A230-6338C2ED0040}" type="pres">
      <dgm:prSet presAssocID="{4B62B670-4F74-4968-A9FD-57DEAF4D7AB9}" presName="Name0" presStyleCnt="0">
        <dgm:presLayoutVars>
          <dgm:dir/>
          <dgm:animLvl val="lvl"/>
          <dgm:resizeHandles val="exact"/>
        </dgm:presLayoutVars>
      </dgm:prSet>
      <dgm:spPr/>
    </dgm:pt>
    <dgm:pt modelId="{F048050B-5BFF-443D-BB11-B36CE888550C}" type="pres">
      <dgm:prSet presAssocID="{00A0E8E7-3F88-4309-B91F-F5DE80EB1BC6}" presName="boxAndChildren" presStyleCnt="0"/>
      <dgm:spPr/>
    </dgm:pt>
    <dgm:pt modelId="{97F18B08-FF52-45CB-A4AB-6E8F70A4F1D6}" type="pres">
      <dgm:prSet presAssocID="{00A0E8E7-3F88-4309-B91F-F5DE80EB1BC6}" presName="parentTextBox" presStyleLbl="node1" presStyleIdx="0" presStyleCnt="3"/>
      <dgm:spPr/>
    </dgm:pt>
    <dgm:pt modelId="{88C336C1-5565-4B1E-822E-42680CCE7ABD}" type="pres">
      <dgm:prSet presAssocID="{00A0E8E7-3F88-4309-B91F-F5DE80EB1BC6}" presName="entireBox" presStyleLbl="node1" presStyleIdx="0" presStyleCnt="3"/>
      <dgm:spPr/>
    </dgm:pt>
    <dgm:pt modelId="{BD1D9426-A63E-4577-BE36-8A757BE46771}" type="pres">
      <dgm:prSet presAssocID="{00A0E8E7-3F88-4309-B91F-F5DE80EB1BC6}" presName="descendantBox" presStyleCnt="0"/>
      <dgm:spPr/>
    </dgm:pt>
    <dgm:pt modelId="{C995B329-96EF-4CE4-AD79-5726D99EA487}" type="pres">
      <dgm:prSet presAssocID="{B8E8652B-82BE-4FFD-A031-1DC5CBCC17E8}" presName="childTextBox" presStyleLbl="fgAccFollowNode1" presStyleIdx="0" presStyleCnt="6">
        <dgm:presLayoutVars>
          <dgm:bulletEnabled val="1"/>
        </dgm:presLayoutVars>
      </dgm:prSet>
      <dgm:spPr/>
    </dgm:pt>
    <dgm:pt modelId="{51754796-0962-47CF-8A25-2BA0DD91E108}" type="pres">
      <dgm:prSet presAssocID="{7E26C3BB-00C7-444E-AF2C-655314C62BEE}" presName="childTextBox" presStyleLbl="fgAccFollowNode1" presStyleIdx="1" presStyleCnt="6">
        <dgm:presLayoutVars>
          <dgm:bulletEnabled val="1"/>
        </dgm:presLayoutVars>
      </dgm:prSet>
      <dgm:spPr/>
    </dgm:pt>
    <dgm:pt modelId="{E3EF1394-15CE-4C38-A0B6-584F287074DD}" type="pres">
      <dgm:prSet presAssocID="{89ACD03D-D328-4C04-9892-1B4D607D8B53}" presName="sp" presStyleCnt="0"/>
      <dgm:spPr/>
    </dgm:pt>
    <dgm:pt modelId="{AD8D1CFD-86C2-4970-88F4-53B74F17930B}" type="pres">
      <dgm:prSet presAssocID="{8AA0589F-461F-4F52-8658-65A0E1E3160E}" presName="arrowAndChildren" presStyleCnt="0"/>
      <dgm:spPr/>
    </dgm:pt>
    <dgm:pt modelId="{A4224507-9183-440F-8755-6D8CFA7C55ED}" type="pres">
      <dgm:prSet presAssocID="{8AA0589F-461F-4F52-8658-65A0E1E3160E}" presName="parentTextArrow" presStyleLbl="node1" presStyleIdx="0" presStyleCnt="3"/>
      <dgm:spPr/>
    </dgm:pt>
    <dgm:pt modelId="{3E1C41C1-3E69-4FE6-AF31-9A0138869220}" type="pres">
      <dgm:prSet presAssocID="{8AA0589F-461F-4F52-8658-65A0E1E3160E}" presName="arrow" presStyleLbl="node1" presStyleIdx="1" presStyleCnt="3"/>
      <dgm:spPr/>
    </dgm:pt>
    <dgm:pt modelId="{F221EAFE-F3B8-418E-98AB-B781EF0A7AF9}" type="pres">
      <dgm:prSet presAssocID="{8AA0589F-461F-4F52-8658-65A0E1E3160E}" presName="descendantArrow" presStyleCnt="0"/>
      <dgm:spPr/>
    </dgm:pt>
    <dgm:pt modelId="{11E7747A-9996-4A97-BC74-95901D72AC7D}" type="pres">
      <dgm:prSet presAssocID="{9B599C85-5956-4A0F-BD3E-A620AD5EC477}" presName="childTextArrow" presStyleLbl="fgAccFollowNode1" presStyleIdx="2" presStyleCnt="6">
        <dgm:presLayoutVars>
          <dgm:bulletEnabled val="1"/>
        </dgm:presLayoutVars>
      </dgm:prSet>
      <dgm:spPr/>
    </dgm:pt>
    <dgm:pt modelId="{736D3BBF-BB43-4DE8-A1A9-85E83600822A}" type="pres">
      <dgm:prSet presAssocID="{B582A538-7718-4E93-83EC-1241AE3A835F}" presName="childTextArrow" presStyleLbl="fgAccFollowNode1" presStyleIdx="3" presStyleCnt="6">
        <dgm:presLayoutVars>
          <dgm:bulletEnabled val="1"/>
        </dgm:presLayoutVars>
      </dgm:prSet>
      <dgm:spPr/>
    </dgm:pt>
    <dgm:pt modelId="{CAA14F14-AC31-455B-A2A5-F34A67573D7D}" type="pres">
      <dgm:prSet presAssocID="{4D066955-F96D-4338-BD43-5F930AC0B4FE}" presName="sp" presStyleCnt="0"/>
      <dgm:spPr/>
    </dgm:pt>
    <dgm:pt modelId="{8008BA7D-0FC5-4DDD-8DAA-B565BD2126C1}" type="pres">
      <dgm:prSet presAssocID="{EA87C019-D4BE-405C-A20A-EFFD28C5B9F6}" presName="arrowAndChildren" presStyleCnt="0"/>
      <dgm:spPr/>
    </dgm:pt>
    <dgm:pt modelId="{9D2C9150-7EC0-4006-9BAF-973339215383}" type="pres">
      <dgm:prSet presAssocID="{EA87C019-D4BE-405C-A20A-EFFD28C5B9F6}" presName="parentTextArrow" presStyleLbl="node1" presStyleIdx="1" presStyleCnt="3"/>
      <dgm:spPr/>
    </dgm:pt>
    <dgm:pt modelId="{11315992-0FED-4E4D-9D8B-194B083B7199}" type="pres">
      <dgm:prSet presAssocID="{EA87C019-D4BE-405C-A20A-EFFD28C5B9F6}" presName="arrow" presStyleLbl="node1" presStyleIdx="2" presStyleCnt="3"/>
      <dgm:spPr/>
    </dgm:pt>
    <dgm:pt modelId="{C4F031F3-2F83-49C4-A011-405908525E83}" type="pres">
      <dgm:prSet presAssocID="{EA87C019-D4BE-405C-A20A-EFFD28C5B9F6}" presName="descendantArrow" presStyleCnt="0"/>
      <dgm:spPr/>
    </dgm:pt>
    <dgm:pt modelId="{D19AEE96-C075-43B2-B6CF-1EC818BC9DD1}" type="pres">
      <dgm:prSet presAssocID="{83CAF3A2-6F86-41C6-85B3-D8A62C784A76}" presName="childTextArrow" presStyleLbl="fgAccFollowNode1" presStyleIdx="4" presStyleCnt="6">
        <dgm:presLayoutVars>
          <dgm:bulletEnabled val="1"/>
        </dgm:presLayoutVars>
      </dgm:prSet>
      <dgm:spPr/>
    </dgm:pt>
    <dgm:pt modelId="{59B192DC-2CB3-4AD2-9DF4-7BB58AADC835}" type="pres">
      <dgm:prSet presAssocID="{6B588CBE-244E-457B-9CB5-AA6A21C417A9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9371E302-7E65-4B6F-9603-225167A47CC0}" srcId="{8AA0589F-461F-4F52-8658-65A0E1E3160E}" destId="{B582A538-7718-4E93-83EC-1241AE3A835F}" srcOrd="1" destOrd="0" parTransId="{393CDD72-D88F-4135-B68F-1675E9719D41}" sibTransId="{0BE2C303-0A8A-458C-9135-13331CE6AC65}"/>
    <dgm:cxn modelId="{F04DEB07-3F3F-4AC4-94F1-3C845FC1597C}" type="presOf" srcId="{B582A538-7718-4E93-83EC-1241AE3A835F}" destId="{736D3BBF-BB43-4DE8-A1A9-85E83600822A}" srcOrd="0" destOrd="0" presId="urn:microsoft.com/office/officeart/2005/8/layout/process4"/>
    <dgm:cxn modelId="{0C0DF00C-68DA-4B0D-8D0D-0A2E868AF3F0}" srcId="{4B62B670-4F74-4968-A9FD-57DEAF4D7AB9}" destId="{EA87C019-D4BE-405C-A20A-EFFD28C5B9F6}" srcOrd="0" destOrd="0" parTransId="{D6AA7176-C6DC-4757-AAA2-DC70F2761A66}" sibTransId="{4D066955-F96D-4338-BD43-5F930AC0B4FE}"/>
    <dgm:cxn modelId="{5B2DF10E-D2E0-4901-9E97-34A07560ABA7}" srcId="{00A0E8E7-3F88-4309-B91F-F5DE80EB1BC6}" destId="{B8E8652B-82BE-4FFD-A031-1DC5CBCC17E8}" srcOrd="0" destOrd="0" parTransId="{815FEB4F-69B2-4553-87F3-32EFB354D180}" sibTransId="{64CD5E9F-267B-4F01-945B-BB2FC7E800C9}"/>
    <dgm:cxn modelId="{40CD9A18-35EA-48C2-8EBE-2A2F1583827E}" srcId="{4B62B670-4F74-4968-A9FD-57DEAF4D7AB9}" destId="{8AA0589F-461F-4F52-8658-65A0E1E3160E}" srcOrd="1" destOrd="0" parTransId="{82A9A03E-F184-4A42-B5F9-5695B5B2C986}" sibTransId="{89ACD03D-D328-4C04-9892-1B4D607D8B53}"/>
    <dgm:cxn modelId="{D6AEB220-9449-4B73-89BC-B985DE304194}" type="presOf" srcId="{EA87C019-D4BE-405C-A20A-EFFD28C5B9F6}" destId="{11315992-0FED-4E4D-9D8B-194B083B7199}" srcOrd="1" destOrd="0" presId="urn:microsoft.com/office/officeart/2005/8/layout/process4"/>
    <dgm:cxn modelId="{D4153024-1CB8-474C-BA0F-5471419505F3}" type="presOf" srcId="{8AA0589F-461F-4F52-8658-65A0E1E3160E}" destId="{A4224507-9183-440F-8755-6D8CFA7C55ED}" srcOrd="0" destOrd="0" presId="urn:microsoft.com/office/officeart/2005/8/layout/process4"/>
    <dgm:cxn modelId="{419FA126-AD6A-444B-A3A3-F9B87A77EC61}" type="presOf" srcId="{4B62B670-4F74-4968-A9FD-57DEAF4D7AB9}" destId="{5ABE798E-E1B1-4F71-A230-6338C2ED0040}" srcOrd="0" destOrd="0" presId="urn:microsoft.com/office/officeart/2005/8/layout/process4"/>
    <dgm:cxn modelId="{B50F9327-E5F5-4EBC-9007-646E4166E5EE}" type="presOf" srcId="{9B599C85-5956-4A0F-BD3E-A620AD5EC477}" destId="{11E7747A-9996-4A97-BC74-95901D72AC7D}" srcOrd="0" destOrd="0" presId="urn:microsoft.com/office/officeart/2005/8/layout/process4"/>
    <dgm:cxn modelId="{28DA6035-C115-4473-93A4-595C0A102407}" srcId="{4B62B670-4F74-4968-A9FD-57DEAF4D7AB9}" destId="{00A0E8E7-3F88-4309-B91F-F5DE80EB1BC6}" srcOrd="2" destOrd="0" parTransId="{4BB9E13C-32A1-4C32-A1AD-D4446C896DCB}" sibTransId="{BFAE14B8-E913-4825-ADA5-8B4E8C4B51F6}"/>
    <dgm:cxn modelId="{0A19E035-3CC4-4E1A-AD1C-BF4E367D23F6}" type="presOf" srcId="{83CAF3A2-6F86-41C6-85B3-D8A62C784A76}" destId="{D19AEE96-C075-43B2-B6CF-1EC818BC9DD1}" srcOrd="0" destOrd="0" presId="urn:microsoft.com/office/officeart/2005/8/layout/process4"/>
    <dgm:cxn modelId="{682ACB4F-DD41-4A7C-BA6C-A787CAB37EA2}" srcId="{8AA0589F-461F-4F52-8658-65A0E1E3160E}" destId="{9B599C85-5956-4A0F-BD3E-A620AD5EC477}" srcOrd="0" destOrd="0" parTransId="{F7B0CDF6-5C71-4C10-A0B5-2980B9FA086F}" sibTransId="{5AD253F7-3060-44A0-9000-0483CB5D9186}"/>
    <dgm:cxn modelId="{710BEA51-26AA-4374-ADDA-7F19EFBB7982}" type="presOf" srcId="{EA87C019-D4BE-405C-A20A-EFFD28C5B9F6}" destId="{9D2C9150-7EC0-4006-9BAF-973339215383}" srcOrd="0" destOrd="0" presId="urn:microsoft.com/office/officeart/2005/8/layout/process4"/>
    <dgm:cxn modelId="{6CF95E6E-3A75-4490-A5AF-59D13AAFC691}" srcId="{EA87C019-D4BE-405C-A20A-EFFD28C5B9F6}" destId="{6B588CBE-244E-457B-9CB5-AA6A21C417A9}" srcOrd="1" destOrd="0" parTransId="{9ADBA9B1-12E6-474C-AC60-51DE906970A2}" sibTransId="{5C7B3CDB-95A0-47DE-B61E-8305F8C96AE7}"/>
    <dgm:cxn modelId="{141E7F6E-373F-4678-B3D5-6F3AFB63A27F}" type="presOf" srcId="{00A0E8E7-3F88-4309-B91F-F5DE80EB1BC6}" destId="{97F18B08-FF52-45CB-A4AB-6E8F70A4F1D6}" srcOrd="0" destOrd="0" presId="urn:microsoft.com/office/officeart/2005/8/layout/process4"/>
    <dgm:cxn modelId="{3566D571-7858-4F68-AB37-D8F1D453BA7A}" srcId="{00A0E8E7-3F88-4309-B91F-F5DE80EB1BC6}" destId="{7E26C3BB-00C7-444E-AF2C-655314C62BEE}" srcOrd="1" destOrd="0" parTransId="{C223DFCF-5B2F-4685-8CAD-A4E1412485EB}" sibTransId="{ECE065B5-2E5E-471D-9A59-EF15739A4A14}"/>
    <dgm:cxn modelId="{1AB2027E-45AD-41FB-9DB1-43FE74678BFA}" type="presOf" srcId="{B8E8652B-82BE-4FFD-A031-1DC5CBCC17E8}" destId="{C995B329-96EF-4CE4-AD79-5726D99EA487}" srcOrd="0" destOrd="0" presId="urn:microsoft.com/office/officeart/2005/8/layout/process4"/>
    <dgm:cxn modelId="{BD7EC687-9E85-492E-BE6A-BE16C124582B}" type="presOf" srcId="{6B588CBE-244E-457B-9CB5-AA6A21C417A9}" destId="{59B192DC-2CB3-4AD2-9DF4-7BB58AADC835}" srcOrd="0" destOrd="0" presId="urn:microsoft.com/office/officeart/2005/8/layout/process4"/>
    <dgm:cxn modelId="{112247A9-8A98-4634-8584-0E1CFC12A7FF}" srcId="{EA87C019-D4BE-405C-A20A-EFFD28C5B9F6}" destId="{83CAF3A2-6F86-41C6-85B3-D8A62C784A76}" srcOrd="0" destOrd="0" parTransId="{012F2C58-5959-4DC7-A3F4-82CAD5DB16DF}" sibTransId="{B1C6ACB3-15C5-431E-B3E3-DB1C5F9C6544}"/>
    <dgm:cxn modelId="{CE510AC6-EA3B-4A09-8CA4-CAB41A883276}" type="presOf" srcId="{8AA0589F-461F-4F52-8658-65A0E1E3160E}" destId="{3E1C41C1-3E69-4FE6-AF31-9A0138869220}" srcOrd="1" destOrd="0" presId="urn:microsoft.com/office/officeart/2005/8/layout/process4"/>
    <dgm:cxn modelId="{EA2FDCEF-9DD1-4A2C-A022-304A842888AA}" type="presOf" srcId="{7E26C3BB-00C7-444E-AF2C-655314C62BEE}" destId="{51754796-0962-47CF-8A25-2BA0DD91E108}" srcOrd="0" destOrd="0" presId="urn:microsoft.com/office/officeart/2005/8/layout/process4"/>
    <dgm:cxn modelId="{85100DFE-58AA-44C7-83FA-E7F4E6E8E692}" type="presOf" srcId="{00A0E8E7-3F88-4309-B91F-F5DE80EB1BC6}" destId="{88C336C1-5565-4B1E-822E-42680CCE7ABD}" srcOrd="1" destOrd="0" presId="urn:microsoft.com/office/officeart/2005/8/layout/process4"/>
    <dgm:cxn modelId="{53FB86AB-5218-4562-A4FC-62D365EE2910}" type="presParOf" srcId="{5ABE798E-E1B1-4F71-A230-6338C2ED0040}" destId="{F048050B-5BFF-443D-BB11-B36CE888550C}" srcOrd="0" destOrd="0" presId="urn:microsoft.com/office/officeart/2005/8/layout/process4"/>
    <dgm:cxn modelId="{B2F96A99-76AD-42BD-B459-695E5212B888}" type="presParOf" srcId="{F048050B-5BFF-443D-BB11-B36CE888550C}" destId="{97F18B08-FF52-45CB-A4AB-6E8F70A4F1D6}" srcOrd="0" destOrd="0" presId="urn:microsoft.com/office/officeart/2005/8/layout/process4"/>
    <dgm:cxn modelId="{C7690E6A-FCB2-4B93-88C6-0B25364314DF}" type="presParOf" srcId="{F048050B-5BFF-443D-BB11-B36CE888550C}" destId="{88C336C1-5565-4B1E-822E-42680CCE7ABD}" srcOrd="1" destOrd="0" presId="urn:microsoft.com/office/officeart/2005/8/layout/process4"/>
    <dgm:cxn modelId="{4822D75B-9A94-4B82-B765-32167FE54D6B}" type="presParOf" srcId="{F048050B-5BFF-443D-BB11-B36CE888550C}" destId="{BD1D9426-A63E-4577-BE36-8A757BE46771}" srcOrd="2" destOrd="0" presId="urn:microsoft.com/office/officeart/2005/8/layout/process4"/>
    <dgm:cxn modelId="{9B9420E1-8B68-4824-B406-4995AF9B0079}" type="presParOf" srcId="{BD1D9426-A63E-4577-BE36-8A757BE46771}" destId="{C995B329-96EF-4CE4-AD79-5726D99EA487}" srcOrd="0" destOrd="0" presId="urn:microsoft.com/office/officeart/2005/8/layout/process4"/>
    <dgm:cxn modelId="{69D413A0-C458-442C-8781-3C6B5F6D67A4}" type="presParOf" srcId="{BD1D9426-A63E-4577-BE36-8A757BE46771}" destId="{51754796-0962-47CF-8A25-2BA0DD91E108}" srcOrd="1" destOrd="0" presId="urn:microsoft.com/office/officeart/2005/8/layout/process4"/>
    <dgm:cxn modelId="{7FD308E7-8CEA-485B-9586-3E0703DFCFF6}" type="presParOf" srcId="{5ABE798E-E1B1-4F71-A230-6338C2ED0040}" destId="{E3EF1394-15CE-4C38-A0B6-584F287074DD}" srcOrd="1" destOrd="0" presId="urn:microsoft.com/office/officeart/2005/8/layout/process4"/>
    <dgm:cxn modelId="{1816F995-9134-4339-8B8B-23D4DBFE2435}" type="presParOf" srcId="{5ABE798E-E1B1-4F71-A230-6338C2ED0040}" destId="{AD8D1CFD-86C2-4970-88F4-53B74F17930B}" srcOrd="2" destOrd="0" presId="urn:microsoft.com/office/officeart/2005/8/layout/process4"/>
    <dgm:cxn modelId="{1702E527-D381-4487-BFF2-46B54C087133}" type="presParOf" srcId="{AD8D1CFD-86C2-4970-88F4-53B74F17930B}" destId="{A4224507-9183-440F-8755-6D8CFA7C55ED}" srcOrd="0" destOrd="0" presId="urn:microsoft.com/office/officeart/2005/8/layout/process4"/>
    <dgm:cxn modelId="{C331F941-47E7-4634-B284-B88AE32FC392}" type="presParOf" srcId="{AD8D1CFD-86C2-4970-88F4-53B74F17930B}" destId="{3E1C41C1-3E69-4FE6-AF31-9A0138869220}" srcOrd="1" destOrd="0" presId="urn:microsoft.com/office/officeart/2005/8/layout/process4"/>
    <dgm:cxn modelId="{8694C056-7E5D-4C01-88C0-E6322A0048A1}" type="presParOf" srcId="{AD8D1CFD-86C2-4970-88F4-53B74F17930B}" destId="{F221EAFE-F3B8-418E-98AB-B781EF0A7AF9}" srcOrd="2" destOrd="0" presId="urn:microsoft.com/office/officeart/2005/8/layout/process4"/>
    <dgm:cxn modelId="{8B8A6A9E-D3ED-4521-9BF1-DCF43D92B086}" type="presParOf" srcId="{F221EAFE-F3B8-418E-98AB-B781EF0A7AF9}" destId="{11E7747A-9996-4A97-BC74-95901D72AC7D}" srcOrd="0" destOrd="0" presId="urn:microsoft.com/office/officeart/2005/8/layout/process4"/>
    <dgm:cxn modelId="{732EBD63-266F-48B3-B4AA-B650D98AD690}" type="presParOf" srcId="{F221EAFE-F3B8-418E-98AB-B781EF0A7AF9}" destId="{736D3BBF-BB43-4DE8-A1A9-85E83600822A}" srcOrd="1" destOrd="0" presId="urn:microsoft.com/office/officeart/2005/8/layout/process4"/>
    <dgm:cxn modelId="{99773B80-FC5F-4D0B-A1AF-89290D686014}" type="presParOf" srcId="{5ABE798E-E1B1-4F71-A230-6338C2ED0040}" destId="{CAA14F14-AC31-455B-A2A5-F34A67573D7D}" srcOrd="3" destOrd="0" presId="urn:microsoft.com/office/officeart/2005/8/layout/process4"/>
    <dgm:cxn modelId="{EACDCCFB-77FF-458F-8206-025FC503F0A6}" type="presParOf" srcId="{5ABE798E-E1B1-4F71-A230-6338C2ED0040}" destId="{8008BA7D-0FC5-4DDD-8DAA-B565BD2126C1}" srcOrd="4" destOrd="0" presId="urn:microsoft.com/office/officeart/2005/8/layout/process4"/>
    <dgm:cxn modelId="{D2582911-3CCF-4120-B921-4CB44A855182}" type="presParOf" srcId="{8008BA7D-0FC5-4DDD-8DAA-B565BD2126C1}" destId="{9D2C9150-7EC0-4006-9BAF-973339215383}" srcOrd="0" destOrd="0" presId="urn:microsoft.com/office/officeart/2005/8/layout/process4"/>
    <dgm:cxn modelId="{73811E57-0E39-43C2-B58B-442E3224593D}" type="presParOf" srcId="{8008BA7D-0FC5-4DDD-8DAA-B565BD2126C1}" destId="{11315992-0FED-4E4D-9D8B-194B083B7199}" srcOrd="1" destOrd="0" presId="urn:microsoft.com/office/officeart/2005/8/layout/process4"/>
    <dgm:cxn modelId="{D933DA47-3502-404C-B0CE-FC514232B701}" type="presParOf" srcId="{8008BA7D-0FC5-4DDD-8DAA-B565BD2126C1}" destId="{C4F031F3-2F83-49C4-A011-405908525E83}" srcOrd="2" destOrd="0" presId="urn:microsoft.com/office/officeart/2005/8/layout/process4"/>
    <dgm:cxn modelId="{3D8EC797-4840-4428-9F89-FFCA9F1C2478}" type="presParOf" srcId="{C4F031F3-2F83-49C4-A011-405908525E83}" destId="{D19AEE96-C075-43B2-B6CF-1EC818BC9DD1}" srcOrd="0" destOrd="0" presId="urn:microsoft.com/office/officeart/2005/8/layout/process4"/>
    <dgm:cxn modelId="{04A0FF98-EDB9-4BAC-A723-965A2A8F2D15}" type="presParOf" srcId="{C4F031F3-2F83-49C4-A011-405908525E83}" destId="{59B192DC-2CB3-4AD2-9DF4-7BB58AADC835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A253D8-CAF7-4CC5-B71F-18D51CEADE2D}">
      <dsp:nvSpPr>
        <dsp:cNvPr id="0" name=""/>
        <dsp:cNvSpPr/>
      </dsp:nvSpPr>
      <dsp:spPr>
        <a:xfrm>
          <a:off x="1610" y="1692512"/>
          <a:ext cx="1961847" cy="78473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Georgia"/>
            </a:rPr>
            <a:t>Geopolitical Events Occur</a:t>
          </a:r>
        </a:p>
      </dsp:txBody>
      <dsp:txXfrm>
        <a:off x="393979" y="1692512"/>
        <a:ext cx="1177109" cy="784738"/>
      </dsp:txXfrm>
    </dsp:sp>
    <dsp:sp modelId="{C4F5FAC4-9AF9-4FFF-832D-044BCF498752}">
      <dsp:nvSpPr>
        <dsp:cNvPr id="0" name=""/>
        <dsp:cNvSpPr/>
      </dsp:nvSpPr>
      <dsp:spPr>
        <a:xfrm>
          <a:off x="1767272" y="1692512"/>
          <a:ext cx="1961847" cy="78473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Georgia"/>
            </a:rPr>
            <a:t>Macroeconomic Factors Change</a:t>
          </a:r>
        </a:p>
      </dsp:txBody>
      <dsp:txXfrm>
        <a:off x="2159641" y="1692512"/>
        <a:ext cx="1177109" cy="784738"/>
      </dsp:txXfrm>
    </dsp:sp>
    <dsp:sp modelId="{0F48591F-0D37-4F93-A1E4-1835A7186AE1}">
      <dsp:nvSpPr>
        <dsp:cNvPr id="0" name=""/>
        <dsp:cNvSpPr/>
      </dsp:nvSpPr>
      <dsp:spPr>
        <a:xfrm>
          <a:off x="3532935" y="1692512"/>
          <a:ext cx="1961847" cy="78473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Georgia"/>
            </a:rPr>
            <a:t>Commodity Prices Affected</a:t>
          </a:r>
        </a:p>
      </dsp:txBody>
      <dsp:txXfrm>
        <a:off x="3925304" y="1692512"/>
        <a:ext cx="1177109" cy="7847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C336C1-5565-4B1E-822E-42680CCE7ABD}">
      <dsp:nvSpPr>
        <dsp:cNvPr id="0" name=""/>
        <dsp:cNvSpPr/>
      </dsp:nvSpPr>
      <dsp:spPr>
        <a:xfrm>
          <a:off x="0" y="2251764"/>
          <a:ext cx="7382655" cy="7390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Georgia"/>
            </a:rPr>
            <a:t>Draw Conclusions</a:t>
          </a:r>
        </a:p>
      </dsp:txBody>
      <dsp:txXfrm>
        <a:off x="0" y="2251764"/>
        <a:ext cx="7382655" cy="399102"/>
      </dsp:txXfrm>
    </dsp:sp>
    <dsp:sp modelId="{C995B329-96EF-4CE4-AD79-5726D99EA487}">
      <dsp:nvSpPr>
        <dsp:cNvPr id="0" name=""/>
        <dsp:cNvSpPr/>
      </dsp:nvSpPr>
      <dsp:spPr>
        <a:xfrm>
          <a:off x="0" y="2636085"/>
          <a:ext cx="3691327" cy="3399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eorgia"/>
            </a:rPr>
            <a:t>Analyze which factors are most/least correlated</a:t>
          </a:r>
        </a:p>
      </dsp:txBody>
      <dsp:txXfrm>
        <a:off x="0" y="2636085"/>
        <a:ext cx="3691327" cy="339976"/>
      </dsp:txXfrm>
    </dsp:sp>
    <dsp:sp modelId="{51754796-0962-47CF-8A25-2BA0DD91E108}">
      <dsp:nvSpPr>
        <dsp:cNvPr id="0" name=""/>
        <dsp:cNvSpPr/>
      </dsp:nvSpPr>
      <dsp:spPr>
        <a:xfrm>
          <a:off x="3691327" y="2636085"/>
          <a:ext cx="3691327" cy="3399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eorgia"/>
            </a:rPr>
            <a:t>Combine these findings with our understanding of the historical context to deliver efficient conclusions for the problem question</a:t>
          </a:r>
        </a:p>
      </dsp:txBody>
      <dsp:txXfrm>
        <a:off x="3691327" y="2636085"/>
        <a:ext cx="3691327" cy="339976"/>
      </dsp:txXfrm>
    </dsp:sp>
    <dsp:sp modelId="{3E1C41C1-3E69-4FE6-AF31-9A0138869220}">
      <dsp:nvSpPr>
        <dsp:cNvPr id="0" name=""/>
        <dsp:cNvSpPr/>
      </dsp:nvSpPr>
      <dsp:spPr>
        <a:xfrm rot="10800000">
          <a:off x="0" y="1126146"/>
          <a:ext cx="7382655" cy="1136703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Georgia"/>
            </a:rPr>
            <a:t>Conduct Analyses</a:t>
          </a:r>
        </a:p>
      </dsp:txBody>
      <dsp:txXfrm rot="-10800000">
        <a:off x="0" y="1126146"/>
        <a:ext cx="7382655" cy="398983"/>
      </dsp:txXfrm>
    </dsp:sp>
    <dsp:sp modelId="{11E7747A-9996-4A97-BC74-95901D72AC7D}">
      <dsp:nvSpPr>
        <dsp:cNvPr id="0" name=""/>
        <dsp:cNvSpPr/>
      </dsp:nvSpPr>
      <dsp:spPr>
        <a:xfrm>
          <a:off x="0" y="1525129"/>
          <a:ext cx="3691327" cy="3398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eorgia"/>
            </a:rPr>
            <a:t>Clean and read in the data using a variety of libraries and formulas (YFinance, Pandas Datareader)</a:t>
          </a:r>
        </a:p>
      </dsp:txBody>
      <dsp:txXfrm>
        <a:off x="0" y="1525129"/>
        <a:ext cx="3691327" cy="339874"/>
      </dsp:txXfrm>
    </dsp:sp>
    <dsp:sp modelId="{736D3BBF-BB43-4DE8-A1A9-85E83600822A}">
      <dsp:nvSpPr>
        <dsp:cNvPr id="0" name=""/>
        <dsp:cNvSpPr/>
      </dsp:nvSpPr>
      <dsp:spPr>
        <a:xfrm>
          <a:off x="3691327" y="1525129"/>
          <a:ext cx="3691327" cy="3398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eorgia"/>
            </a:rPr>
            <a:t>Generate a multitude of visualizations to display correlations, and calculate supporting correlation coefficients</a:t>
          </a:r>
        </a:p>
      </dsp:txBody>
      <dsp:txXfrm>
        <a:off x="3691327" y="1525129"/>
        <a:ext cx="3691327" cy="339874"/>
      </dsp:txXfrm>
    </dsp:sp>
    <dsp:sp modelId="{11315992-0FED-4E4D-9D8B-194B083B7199}">
      <dsp:nvSpPr>
        <dsp:cNvPr id="0" name=""/>
        <dsp:cNvSpPr/>
      </dsp:nvSpPr>
      <dsp:spPr>
        <a:xfrm rot="10800000">
          <a:off x="0" y="528"/>
          <a:ext cx="7382655" cy="1136703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Georgia"/>
            </a:rPr>
            <a:t>Collect/Analyze Data</a:t>
          </a:r>
        </a:p>
      </dsp:txBody>
      <dsp:txXfrm rot="-10800000">
        <a:off x="0" y="528"/>
        <a:ext cx="7382655" cy="398983"/>
      </dsp:txXfrm>
    </dsp:sp>
    <dsp:sp modelId="{D19AEE96-C075-43B2-B6CF-1EC818BC9DD1}">
      <dsp:nvSpPr>
        <dsp:cNvPr id="0" name=""/>
        <dsp:cNvSpPr/>
      </dsp:nvSpPr>
      <dsp:spPr>
        <a:xfrm>
          <a:off x="0" y="399511"/>
          <a:ext cx="3691327" cy="3398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eorgia"/>
            </a:rPr>
            <a:t>Source a variety of macroeconomic factors (daily, monthly, yearly) to compare to commodity price returns</a:t>
          </a:r>
        </a:p>
      </dsp:txBody>
      <dsp:txXfrm>
        <a:off x="0" y="399511"/>
        <a:ext cx="3691327" cy="339874"/>
      </dsp:txXfrm>
    </dsp:sp>
    <dsp:sp modelId="{59B192DC-2CB3-4AD2-9DF4-7BB58AADC835}">
      <dsp:nvSpPr>
        <dsp:cNvPr id="0" name=""/>
        <dsp:cNvSpPr/>
      </dsp:nvSpPr>
      <dsp:spPr>
        <a:xfrm>
          <a:off x="3691327" y="399511"/>
          <a:ext cx="3691327" cy="3398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Georgia"/>
            </a:rPr>
            <a:t>Talk to professors/experts to derive key historical context, keeping in mind key ethical concerns/biases</a:t>
          </a:r>
        </a:p>
      </dsp:txBody>
      <dsp:txXfrm>
        <a:off x="3691327" y="399511"/>
        <a:ext cx="3691327" cy="339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ACAD7-689C-4E1B-8DEA-6164498B73CA}" type="datetimeFigureOut">
              <a:t>12/21/24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503AC-EB33-4A75-8DAA-018B2090AB0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6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503AC-EB33-4A75-8DAA-018B2090AB0A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61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dendrogram in the image represents a hierarchical clustering of macroeconomic factors based on their similarity (or dissimilarity). Here’s how to interpret it:</a:t>
            </a:r>
          </a:p>
          <a:p>
            <a:r>
              <a:rPr lang="en-US"/>
              <a:t>1. </a:t>
            </a:r>
            <a:r>
              <a:rPr lang="en-US" b="1"/>
              <a:t>Clustering Overview: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The y-axis represents the distance (or dissimilarity) between clusters. The larger the height at which two branches merge, the more dissimilar the factors are.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The x-axis lists the macroeconomic factors.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2. </a:t>
            </a:r>
            <a:r>
              <a:rPr lang="en-US" b="1"/>
              <a:t>Key Insights: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FEDFUNDS, UNRATE, and Returns</a:t>
            </a:r>
            <a:r>
              <a:rPr lang="en-US"/>
              <a:t> are closely related, as they merge at a low distance. This suggests a strong relationship or similarity between these factors.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INDPRO</a:t>
            </a:r>
            <a:r>
              <a:rPr lang="en-US"/>
              <a:t>, </a:t>
            </a:r>
            <a:r>
              <a:rPr lang="en-US" b="1" err="1"/>
              <a:t>brent_crude_adj_close</a:t>
            </a:r>
            <a:r>
              <a:rPr lang="en-US"/>
              <a:t>, and </a:t>
            </a:r>
            <a:r>
              <a:rPr lang="en-US" b="1" err="1"/>
              <a:t>usd_jpy_adj_close</a:t>
            </a:r>
            <a:r>
              <a:rPr lang="en-US"/>
              <a:t> form another cluster, indicating these factors are more similar to each other than to the first group.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err="1"/>
              <a:t>VIX_adj_close</a:t>
            </a:r>
            <a:r>
              <a:rPr lang="en-US"/>
              <a:t> stands out as the most distinct factor, merging with other clusters at the highest distance. This indicates that </a:t>
            </a:r>
            <a:r>
              <a:rPr lang="en-US" err="1"/>
              <a:t>VIX_adj_close</a:t>
            </a:r>
            <a:r>
              <a:rPr lang="en-US"/>
              <a:t> behaves differently compared to the other factors.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3. </a:t>
            </a:r>
            <a:r>
              <a:rPr lang="en-US" b="1"/>
              <a:t>Implications: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The first cluster (FEDFUNDS, UNRATE, Returns) may represent financial market indicators that are influenced by or reflect monetary policy and employment conditions.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The second cluster (INDPRO, </a:t>
            </a:r>
            <a:r>
              <a:rPr lang="en-US" err="1"/>
              <a:t>brent_crude_adj_close</a:t>
            </a:r>
            <a:r>
              <a:rPr lang="en-US"/>
              <a:t>, </a:t>
            </a:r>
            <a:r>
              <a:rPr lang="en-US" err="1"/>
              <a:t>usd_jpy_adj_close</a:t>
            </a:r>
            <a:r>
              <a:rPr lang="en-US"/>
              <a:t>) could be linked to industrial and global economic activity.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The distinct behavior of </a:t>
            </a:r>
            <a:r>
              <a:rPr lang="en-US" err="1"/>
              <a:t>VIX_adj_close</a:t>
            </a:r>
            <a:r>
              <a:rPr lang="en-US"/>
              <a:t> suggests it captures volatility or uncertainty that is not closely tied to the other macroeconomic factors.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503AC-EB33-4A75-8DAA-018B2090AB0A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60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Rolling correlation is a calculation that measures the correlation between two variables over a moving window of observations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503AC-EB33-4A75-8DAA-018B2090AB0A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5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12/21/24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066" y="1097186"/>
            <a:ext cx="11252451" cy="1521630"/>
          </a:xfrm>
        </p:spPr>
        <p:txBody>
          <a:bodyPr>
            <a:normAutofit fontScale="90000"/>
          </a:bodyPr>
          <a:lstStyle/>
          <a:p>
            <a:r>
              <a:rPr lang="en-US" sz="3200">
                <a:solidFill>
                  <a:srgbClr val="FFFFFF"/>
                </a:solidFill>
                <a:latin typeface="Georgia"/>
              </a:rPr>
              <a:t>DS2500 Final Project</a:t>
            </a:r>
            <a:br>
              <a:rPr lang="en-US" sz="3200">
                <a:latin typeface="Georgia"/>
              </a:rPr>
            </a:br>
            <a:br>
              <a:rPr lang="en-US" sz="4800">
                <a:latin typeface="Georgia"/>
              </a:rPr>
            </a:br>
            <a:r>
              <a:rPr lang="en-US" sz="4800">
                <a:solidFill>
                  <a:srgbClr val="FFFFFF"/>
                </a:solidFill>
                <a:latin typeface="Georgia"/>
              </a:rPr>
              <a:t>Commodities vs. Macroeconomic Factors 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2334" y="2805137"/>
            <a:ext cx="8793253" cy="10780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  <a:latin typeface="Georgia"/>
              </a:rPr>
              <a:t>Anoop </a:t>
            </a:r>
            <a:r>
              <a:rPr lang="en-US" err="1">
                <a:solidFill>
                  <a:srgbClr val="FFFFFF"/>
                </a:solidFill>
                <a:latin typeface="Georgia"/>
              </a:rPr>
              <a:t>Dindigal</a:t>
            </a:r>
            <a:r>
              <a:rPr lang="en-US">
                <a:solidFill>
                  <a:srgbClr val="FFFFFF"/>
                </a:solidFill>
                <a:latin typeface="Georgia"/>
              </a:rPr>
              <a:t>, Khushi Sarkar, Pranav Narang and Noel Burra</a:t>
            </a:r>
          </a:p>
        </p:txBody>
      </p:sp>
      <p:pic>
        <p:nvPicPr>
          <p:cNvPr id="4" name="Picture 3" descr="Gold | Bulwik Jewellery">
            <a:extLst>
              <a:ext uri="{FF2B5EF4-FFF2-40B4-BE49-F238E27FC236}">
                <a16:creationId xmlns:a16="http://schemas.microsoft.com/office/drawing/2014/main" id="{9F9FC337-6A35-5DD9-EA5A-AD42549C7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891" y="3888449"/>
            <a:ext cx="3138773" cy="2057400"/>
          </a:xfrm>
          <a:prstGeom prst="rect">
            <a:avLst/>
          </a:prstGeom>
        </p:spPr>
      </p:pic>
      <p:pic>
        <p:nvPicPr>
          <p:cNvPr id="5" name="Picture 4" descr="An Introduction to Platinum Investment - Commodities - Market News &amp;  Insights">
            <a:extLst>
              <a:ext uri="{FF2B5EF4-FFF2-40B4-BE49-F238E27FC236}">
                <a16:creationId xmlns:a16="http://schemas.microsoft.com/office/drawing/2014/main" id="{B20F53EA-2520-60E0-CB2F-EDE0E4323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323" y="3887889"/>
            <a:ext cx="3117954" cy="205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1069" y="2978555"/>
            <a:ext cx="6714699" cy="905181"/>
          </a:xfrm>
        </p:spPr>
        <p:txBody>
          <a:bodyPr>
            <a:normAutofit/>
          </a:bodyPr>
          <a:lstStyle/>
          <a:p>
            <a:pPr algn="l"/>
            <a:r>
              <a:rPr lang="en-US" sz="4800" b="1">
                <a:solidFill>
                  <a:srgbClr val="FFFFFF"/>
                </a:solidFill>
                <a:latin typeface="Georgia"/>
              </a:rPr>
              <a:t>Introduction</a:t>
            </a:r>
            <a:endParaRPr lang="en-US" b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78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62E38-8A91-6292-66ED-A769756B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61" y="3054417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>
                <a:solidFill>
                  <a:srgbClr val="FFFFFF"/>
                </a:solidFill>
                <a:latin typeface="Georgia"/>
              </a:rPr>
              <a:t>Macroeconomic Factors vs. Commodity Price Returns</a:t>
            </a:r>
            <a:endParaRPr lang="en-US" sz="2800" kern="12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EACA-3D9F-ADFB-AEE9-38896ED4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latin typeface="Georgia"/>
              </a:rPr>
              <a:t>What is the problem     we are trying to solve</a:t>
            </a:r>
            <a:r>
              <a:rPr lang="en-US" sz="2000" kern="1200">
                <a:solidFill>
                  <a:srgbClr val="FFFFFF"/>
                </a:solidFill>
                <a:latin typeface="Georgia"/>
              </a:rPr>
              <a:t>? </a:t>
            </a:r>
            <a:endParaRPr lang="en-US">
              <a:latin typeface="Georgia"/>
            </a:endParaRPr>
          </a:p>
        </p:txBody>
      </p:sp>
      <p:graphicFrame>
        <p:nvGraphicFramePr>
          <p:cNvPr id="2054" name="Diagram 2053">
            <a:extLst>
              <a:ext uri="{FF2B5EF4-FFF2-40B4-BE49-F238E27FC236}">
                <a16:creationId xmlns:a16="http://schemas.microsoft.com/office/drawing/2014/main" id="{B3530012-D196-76AD-E70E-5B4EAA18B3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0797624"/>
              </p:ext>
            </p:extLst>
          </p:nvPr>
        </p:nvGraphicFramePr>
        <p:xfrm>
          <a:off x="5529682" y="-530475"/>
          <a:ext cx="5496393" cy="4169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47" name="TextBox 2346">
            <a:extLst>
              <a:ext uri="{FF2B5EF4-FFF2-40B4-BE49-F238E27FC236}">
                <a16:creationId xmlns:a16="http://schemas.microsoft.com/office/drawing/2014/main" id="{842D9B1F-F614-E4AC-6519-EE0B1FA162E9}"/>
              </a:ext>
            </a:extLst>
          </p:cNvPr>
          <p:cNvSpPr txBox="1"/>
          <p:nvPr/>
        </p:nvSpPr>
        <p:spPr>
          <a:xfrm>
            <a:off x="7412399" y="621525"/>
            <a:ext cx="17313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Georgia"/>
              </a:rPr>
              <a:t>The Problem</a:t>
            </a:r>
          </a:p>
        </p:txBody>
      </p:sp>
      <p:sp>
        <p:nvSpPr>
          <p:cNvPr id="2348" name="TextBox 2347">
            <a:extLst>
              <a:ext uri="{FF2B5EF4-FFF2-40B4-BE49-F238E27FC236}">
                <a16:creationId xmlns:a16="http://schemas.microsoft.com/office/drawing/2014/main" id="{78D1B0D4-A9B7-91AE-5B8B-122C008304F1}"/>
              </a:ext>
            </a:extLst>
          </p:cNvPr>
          <p:cNvSpPr txBox="1"/>
          <p:nvPr/>
        </p:nvSpPr>
        <p:spPr>
          <a:xfrm>
            <a:off x="6524884" y="2296997"/>
            <a:ext cx="35135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Georgia"/>
              </a:rPr>
              <a:t>Our Investigation/Process</a:t>
            </a:r>
            <a:endParaRPr lang="en-US">
              <a:latin typeface="Georgia"/>
            </a:endParaRPr>
          </a:p>
        </p:txBody>
      </p:sp>
      <p:graphicFrame>
        <p:nvGraphicFramePr>
          <p:cNvPr id="2349" name="Diagram 2348">
            <a:extLst>
              <a:ext uri="{FF2B5EF4-FFF2-40B4-BE49-F238E27FC236}">
                <a16:creationId xmlns:a16="http://schemas.microsoft.com/office/drawing/2014/main" id="{792E303E-D456-BA3A-4F91-3B8DB38EBB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6793811"/>
              </p:ext>
            </p:extLst>
          </p:nvPr>
        </p:nvGraphicFramePr>
        <p:xfrm>
          <a:off x="4554097" y="2662736"/>
          <a:ext cx="7382655" cy="2991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C1BAE490-2D1C-5232-F498-8B0D53F1CF70}"/>
              </a:ext>
            </a:extLst>
          </p:cNvPr>
          <p:cNvSpPr txBox="1"/>
          <p:nvPr/>
        </p:nvSpPr>
        <p:spPr>
          <a:xfrm>
            <a:off x="4552626" y="5850609"/>
            <a:ext cx="730228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000">
                <a:latin typeface="Georgia"/>
              </a:rPr>
              <a:t>There are</a:t>
            </a:r>
            <a:r>
              <a:rPr lang="en-US" sz="1000" b="1">
                <a:latin typeface="Georgia"/>
              </a:rPr>
              <a:t> no ethical concerns</a:t>
            </a:r>
            <a:r>
              <a:rPr lang="en-US" sz="1000">
                <a:latin typeface="Georgia"/>
              </a:rPr>
              <a:t> with this project as the financial and economic data is public, meaning that anyone can access this information. We are not making "buy" recommendations with our analysis – individuals should invest with their due diligence. We are exploring and explaining biases in our data throughout the presentation and have consulted professionals to verify our assumptions.  </a:t>
            </a:r>
            <a:endParaRPr lang="en-US"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17531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62E38-8A91-6292-66ED-A769756B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66" y="866970"/>
            <a:ext cx="2897482" cy="136052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2800">
                <a:solidFill>
                  <a:srgbClr val="FFFFFF"/>
                </a:solidFill>
                <a:latin typeface="Georgia"/>
              </a:rPr>
              <a:t>A snippet of the processed data</a:t>
            </a:r>
            <a:br>
              <a:rPr lang="en-US" sz="2800">
                <a:latin typeface="Georgia"/>
              </a:rPr>
            </a:br>
            <a:br>
              <a:rPr lang="en-US" sz="2800">
                <a:latin typeface="Georgia"/>
              </a:rPr>
            </a:br>
            <a:br>
              <a:rPr lang="en-US" sz="2800">
                <a:latin typeface="Georgia"/>
              </a:rPr>
            </a:br>
            <a:r>
              <a:rPr lang="en-US" sz="2800">
                <a:solidFill>
                  <a:srgbClr val="000000"/>
                </a:solidFill>
                <a:ea typeface="+mj-lt"/>
                <a:cs typeface="+mj-lt"/>
              </a:rPr>
              <a:t>
</a:t>
            </a:r>
            <a:endParaRPr lang="en-US" sz="2800" b="1">
              <a:solidFill>
                <a:srgbClr val="FFFFFF"/>
              </a:solidFill>
              <a:latin typeface="Georgia"/>
            </a:endParaRPr>
          </a:p>
          <a:p>
            <a:pPr algn="r"/>
            <a:r>
              <a:rPr lang="en-US" sz="1200">
                <a:solidFill>
                  <a:srgbClr val="303F9F"/>
                </a:solidFill>
                <a:latin typeface="Helvetica Neue"/>
              </a:rPr>
              <a:t>In [26]:</a:t>
            </a:r>
            <a:endParaRPr lang="en-US"/>
          </a:p>
          <a:p>
            <a:br>
              <a:rPr lang="en-US"/>
            </a:br>
            <a:endParaRPr lang="en-US"/>
          </a:p>
          <a:p>
            <a:endParaRPr lang="en-US" sz="2800" kern="1200">
              <a:latin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EACA-3D9F-ADFB-AEE9-38896ED4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164" y="2496689"/>
            <a:ext cx="2902616" cy="3990605"/>
          </a:xfrm>
        </p:spPr>
        <p:txBody>
          <a:bodyPr vert="horz" lIns="91440" tIns="45720" rIns="91440" bIns="45720" rtlCol="0" anchor="b">
            <a:normAutofit fontScale="70000" lnSpcReduction="20000"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 sz="2000">
                <a:solidFill>
                  <a:srgbClr val="FFFFFF"/>
                </a:solidFill>
                <a:latin typeface="Georgia"/>
              </a:rPr>
              <a:t>Various steps to data cleaning and combining data frames 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000">
                <a:solidFill>
                  <a:srgbClr val="FFFFFF"/>
                </a:solidFill>
                <a:latin typeface="Georgia"/>
              </a:rPr>
              <a:t>12 different data sets to analyze with different formats and headers (used OS library to read in files)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000">
                <a:solidFill>
                  <a:srgbClr val="FFFFFF"/>
                </a:solidFill>
                <a:latin typeface="Georgia"/>
              </a:rPr>
              <a:t>Needed to standardize dates and column names 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000">
                <a:solidFill>
                  <a:srgbClr val="FFFFFF"/>
                </a:solidFill>
                <a:latin typeface="Georgia"/>
              </a:rPr>
              <a:t>Commodity and S&amp;P 500 returns were calculated and added to the each of their data frames as a new column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000">
                <a:solidFill>
                  <a:srgbClr val="FFFFFF"/>
                </a:solidFill>
                <a:latin typeface="Georgia"/>
              </a:rPr>
              <a:t>Daily factors needed to be converted to monthly 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000">
                <a:solidFill>
                  <a:srgbClr val="FFFFFF"/>
                </a:solidFill>
                <a:latin typeface="Georgia"/>
              </a:rPr>
              <a:t>Merged data frames together using pandas 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000">
                <a:solidFill>
                  <a:srgbClr val="FFFFFF"/>
                </a:solidFill>
                <a:latin typeface="Georgia"/>
              </a:rPr>
              <a:t>All "</a:t>
            </a:r>
            <a:r>
              <a:rPr lang="en-US" sz="2000" err="1">
                <a:solidFill>
                  <a:srgbClr val="FFFFFF"/>
                </a:solidFill>
                <a:latin typeface="Georgia"/>
              </a:rPr>
              <a:t>NaN</a:t>
            </a:r>
            <a:r>
              <a:rPr lang="en-US" sz="2000">
                <a:solidFill>
                  <a:srgbClr val="FFFFFF"/>
                </a:solidFill>
                <a:latin typeface="Georgia"/>
              </a:rPr>
              <a:t>" rows had to be deleted 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E97E5CEF-5A1D-356B-B7D7-46889408E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848" y="214411"/>
            <a:ext cx="6637427" cy="644360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07FD12A-EEA2-B20B-AFC3-288154C4B686}"/>
              </a:ext>
            </a:extLst>
          </p:cNvPr>
          <p:cNvCxnSpPr/>
          <p:nvPr/>
        </p:nvCxnSpPr>
        <p:spPr>
          <a:xfrm>
            <a:off x="7852474" y="4675321"/>
            <a:ext cx="555355" cy="12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C738987-5538-D2C5-D2A3-2F3F864E0938}"/>
              </a:ext>
            </a:extLst>
          </p:cNvPr>
          <p:cNvSpPr txBox="1"/>
          <p:nvPr/>
        </p:nvSpPr>
        <p:spPr>
          <a:xfrm>
            <a:off x="8388457" y="4546169"/>
            <a:ext cx="274319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/>
              <a:t>S&amp;P500 returns </a:t>
            </a:r>
          </a:p>
        </p:txBody>
      </p:sp>
    </p:spTree>
    <p:extLst>
      <p:ext uri="{BB962C8B-B14F-4D97-AF65-F5344CB8AC3E}">
        <p14:creationId xmlns:p14="http://schemas.microsoft.com/office/powerpoint/2010/main" val="500936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62E38-8A91-6292-66ED-A769756B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2892023"/>
            <a:ext cx="2897482" cy="136052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2800">
                <a:solidFill>
                  <a:srgbClr val="FFFFFF"/>
                </a:solidFill>
                <a:latin typeface="Georgia"/>
              </a:rPr>
              <a:t>Hierarchical Clustering and</a:t>
            </a:r>
            <a:br>
              <a:rPr lang="en-US" sz="2800">
                <a:latin typeface="Georgia"/>
              </a:rPr>
            </a:br>
            <a:r>
              <a:rPr lang="en-US" sz="2800">
                <a:solidFill>
                  <a:srgbClr val="FFFFFF"/>
                </a:solidFill>
                <a:latin typeface="Georgia"/>
              </a:rPr>
              <a:t>Collective</a:t>
            </a:r>
            <a:br>
              <a:rPr lang="en-US" sz="2800">
                <a:latin typeface="Georgia"/>
              </a:rPr>
            </a:br>
            <a:r>
              <a:rPr lang="en-US" sz="2800">
                <a:solidFill>
                  <a:srgbClr val="FFFFFF"/>
                </a:solidFill>
                <a:latin typeface="Georgia"/>
              </a:rPr>
              <a:t>Heatmap</a:t>
            </a:r>
            <a:endParaRPr lang="en-US" sz="2800" kern="12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EACA-3D9F-ADFB-AEE9-38896ED4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latin typeface="Georgia"/>
              </a:rPr>
              <a:t>What do all our factors look like together</a:t>
            </a:r>
            <a:r>
              <a:rPr lang="en-US" sz="2000" kern="1200">
                <a:solidFill>
                  <a:srgbClr val="FFFFFF"/>
                </a:solidFill>
                <a:latin typeface="Georgia"/>
              </a:rPr>
              <a:t>? </a:t>
            </a:r>
            <a:endParaRPr lang="en-US">
              <a:latin typeface="Georgia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972CEBD-3EFF-7640-3898-EDC624D7E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661" y="930472"/>
            <a:ext cx="3477770" cy="356932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C83047A-E120-DB78-50BB-368664991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355" y="933231"/>
            <a:ext cx="4220929" cy="36371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33FFE1-4E7E-C862-9759-823DFFED4554}"/>
              </a:ext>
            </a:extLst>
          </p:cNvPr>
          <p:cNvSpPr txBox="1"/>
          <p:nvPr/>
        </p:nvSpPr>
        <p:spPr>
          <a:xfrm>
            <a:off x="4149560" y="4838331"/>
            <a:ext cx="3465784" cy="16696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100"/>
              </a:spcAft>
              <a:buFont typeface="Calibri"/>
              <a:buChar char="-"/>
            </a:pPr>
            <a:r>
              <a:rPr lang="en-US" sz="1000">
                <a:latin typeface="Georgia"/>
              </a:rPr>
              <a:t>Dendrogram shows </a:t>
            </a:r>
            <a:r>
              <a:rPr lang="en-US" sz="1000">
                <a:latin typeface="Georgia"/>
                <a:ea typeface="+mn-lt"/>
                <a:cs typeface="+mn-lt"/>
              </a:rPr>
              <a:t>how different variables are grouped based on their similarity.</a:t>
            </a:r>
            <a:endParaRPr lang="en-US"/>
          </a:p>
          <a:p>
            <a:pPr marL="285750" indent="-285750">
              <a:spcAft>
                <a:spcPts val="100"/>
              </a:spcAft>
              <a:buFont typeface="Calibri"/>
              <a:buChar char="-"/>
            </a:pPr>
            <a:r>
              <a:rPr lang="en-US" sz="1000" b="1">
                <a:latin typeface="Georgia"/>
              </a:rPr>
              <a:t>Two distinct clusters but vertical distance is large, meaning that the factors are not very similar </a:t>
            </a:r>
            <a:endParaRPr lang="en-US"/>
          </a:p>
          <a:p>
            <a:pPr marL="285750" indent="-285750">
              <a:spcAft>
                <a:spcPts val="100"/>
              </a:spcAft>
              <a:buFont typeface="Calibri"/>
              <a:buChar char="-"/>
            </a:pPr>
            <a:r>
              <a:rPr lang="en-US" sz="1000">
                <a:latin typeface="Georgia"/>
              </a:rPr>
              <a:t>Fed Funds rate and S&amp;P500 returns are the most similar </a:t>
            </a:r>
          </a:p>
          <a:p>
            <a:pPr marL="285750" indent="-285750">
              <a:spcAft>
                <a:spcPts val="100"/>
              </a:spcAft>
              <a:buFont typeface="Calibri"/>
              <a:buChar char="-"/>
            </a:pPr>
            <a:r>
              <a:rPr lang="en-US" sz="1000">
                <a:latin typeface="Georgia"/>
              </a:rPr>
              <a:t>VIX is a measure of</a:t>
            </a:r>
            <a:r>
              <a:rPr lang="en-US" sz="1000">
                <a:latin typeface="Georgia"/>
                <a:ea typeface="+mn-lt"/>
                <a:cs typeface="+mn-lt"/>
              </a:rPr>
              <a:t> the stock market's expectation of volatility based on S&amp;P 500 – it makes sense it is unrelated to other macro factors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574BE-EE02-35D9-4F8F-220696C4D3FB}"/>
              </a:ext>
            </a:extLst>
          </p:cNvPr>
          <p:cNvSpPr txBox="1"/>
          <p:nvPr/>
        </p:nvSpPr>
        <p:spPr>
          <a:xfrm>
            <a:off x="8004880" y="4838331"/>
            <a:ext cx="3840216" cy="16696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Aft>
                <a:spcPts val="100"/>
              </a:spcAft>
              <a:buFont typeface="Calibri"/>
              <a:buChar char="-"/>
            </a:pPr>
            <a:r>
              <a:rPr lang="en-US" sz="1000" b="1">
                <a:latin typeface="Georgia"/>
              </a:rPr>
              <a:t>Strong negative correlation between </a:t>
            </a:r>
            <a:r>
              <a:rPr lang="en-US" sz="1000" b="1" err="1">
                <a:latin typeface="Georgia"/>
              </a:rPr>
              <a:t>unemployeent</a:t>
            </a:r>
            <a:r>
              <a:rPr lang="en-US" sz="1000" b="1">
                <a:latin typeface="Georgia"/>
              </a:rPr>
              <a:t> rate and industrial production </a:t>
            </a:r>
            <a:endParaRPr lang="en-US" sz="1000" b="1">
              <a:latin typeface="Georgia"/>
              <a:ea typeface="+mn-lt"/>
              <a:cs typeface="+mn-lt"/>
            </a:endParaRPr>
          </a:p>
          <a:p>
            <a:pPr marL="742950" lvl="1" indent="-285750">
              <a:spcAft>
                <a:spcPts val="100"/>
              </a:spcAft>
              <a:buFont typeface="Courier New"/>
              <a:buChar char="o"/>
            </a:pPr>
            <a:r>
              <a:rPr lang="en-US" sz="1000">
                <a:latin typeface="Georgia"/>
              </a:rPr>
              <a:t>High industrial production = higher demand for labor = unemployment rate falls </a:t>
            </a:r>
          </a:p>
          <a:p>
            <a:pPr marL="285750" indent="-285750">
              <a:spcAft>
                <a:spcPts val="100"/>
              </a:spcAft>
              <a:buFont typeface="Calibri"/>
              <a:buChar char="-"/>
            </a:pPr>
            <a:r>
              <a:rPr lang="en-US" sz="1000">
                <a:latin typeface="Georgia"/>
                <a:ea typeface="+mn-lt"/>
                <a:cs typeface="+mn-lt"/>
              </a:rPr>
              <a:t>Other macro-economic factors do not have strong correlations </a:t>
            </a:r>
            <a:endParaRPr lang="en-US">
              <a:latin typeface="Georgia"/>
              <a:ea typeface="+mn-lt"/>
              <a:cs typeface="+mn-lt"/>
            </a:endParaRPr>
          </a:p>
          <a:p>
            <a:pPr marL="285750" indent="-285750">
              <a:spcAft>
                <a:spcPts val="100"/>
              </a:spcAft>
              <a:buFont typeface="Calibri"/>
              <a:buChar char="-"/>
            </a:pPr>
            <a:r>
              <a:rPr lang="en-US" sz="1000" b="1">
                <a:latin typeface="Georgia"/>
                <a:ea typeface="+mn-lt"/>
                <a:cs typeface="+mn-lt"/>
              </a:rPr>
              <a:t>What</a:t>
            </a:r>
            <a:r>
              <a:rPr lang="en-US" sz="1000" b="1">
                <a:latin typeface="Georgia"/>
              </a:rPr>
              <a:t> does this tell us? </a:t>
            </a:r>
            <a:r>
              <a:rPr lang="en-US" sz="1000">
                <a:latin typeface="Georgia"/>
              </a:rPr>
              <a:t>Since most macro-economic factors perform independently, we should look at macro factors individually to measure their impact on commodities price </a:t>
            </a:r>
            <a:endParaRPr lang="en-US">
              <a:latin typeface="Georg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9E115-7AA3-92D3-9EE6-39EBB448662A}"/>
              </a:ext>
            </a:extLst>
          </p:cNvPr>
          <p:cNvSpPr txBox="1"/>
          <p:nvPr/>
        </p:nvSpPr>
        <p:spPr>
          <a:xfrm>
            <a:off x="5066648" y="478505"/>
            <a:ext cx="16264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cs typeface="Arial"/>
              </a:rPr>
              <a:t>Dendrogram </a:t>
            </a:r>
            <a:endParaRPr lang="en-US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AC78A-F995-2DC0-9664-941B488F9816}"/>
              </a:ext>
            </a:extLst>
          </p:cNvPr>
          <p:cNvSpPr txBox="1"/>
          <p:nvPr/>
        </p:nvSpPr>
        <p:spPr>
          <a:xfrm>
            <a:off x="8600091" y="478505"/>
            <a:ext cx="26512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cs typeface="Arial"/>
              </a:rPr>
              <a:t>Correlation Heatmap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06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B453F8-A603-0266-1E85-5E8558B26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>
                <a:latin typeface="Georgia"/>
              </a:rPr>
              <a:t>Gold and silver and the most closely related in terms of returns</a:t>
            </a:r>
          </a:p>
          <a:p>
            <a:r>
              <a:rPr lang="en-US" sz="1700">
                <a:latin typeface="Georgia"/>
              </a:rPr>
              <a:t>This makes sense because gold and silver are categorized as precious metals </a:t>
            </a:r>
          </a:p>
          <a:p>
            <a:r>
              <a:rPr lang="en-US" sz="1700">
                <a:latin typeface="Georgia"/>
              </a:rPr>
              <a:t>Investing in gold and silver may not be the most ideal way to diversify a portfolio to hedge risk </a:t>
            </a:r>
          </a:p>
        </p:txBody>
      </p:sp>
      <p:pic>
        <p:nvPicPr>
          <p:cNvPr id="4" name="Content Placeholder 3" descr="A graph with blue lines&#10;&#10;Description automatically generated">
            <a:extLst>
              <a:ext uri="{FF2B5EF4-FFF2-40B4-BE49-F238E27FC236}">
                <a16:creationId xmlns:a16="http://schemas.microsoft.com/office/drawing/2014/main" id="{BD582C8F-66CB-6AAA-17D8-07CE58106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426" y="841248"/>
            <a:ext cx="6657523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931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7769" y="2978555"/>
            <a:ext cx="4017219" cy="905181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rgbClr val="FFFFFF"/>
                </a:solidFill>
                <a:latin typeface="Georgia"/>
              </a:rPr>
              <a:t>Daily Factors</a:t>
            </a:r>
            <a:endParaRPr lang="en-US" b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8A1D79-E9F6-C528-61AE-ADEB288C5106}"/>
              </a:ext>
            </a:extLst>
          </p:cNvPr>
          <p:cNvSpPr txBox="1">
            <a:spLocks/>
          </p:cNvSpPr>
          <p:nvPr/>
        </p:nvSpPr>
        <p:spPr>
          <a:xfrm>
            <a:off x="6555969" y="1561235"/>
            <a:ext cx="4664919" cy="3747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 algn="l"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Georgia"/>
              </a:rPr>
              <a:t>S&amp;P 500</a:t>
            </a:r>
          </a:p>
          <a:p>
            <a:pPr marL="685800" indent="-685800" algn="l">
              <a:buFont typeface="Arial"/>
              <a:buChar char="•"/>
            </a:pPr>
            <a:endParaRPr lang="en-US" sz="4800">
              <a:solidFill>
                <a:srgbClr val="FFFFFF"/>
              </a:solidFill>
              <a:latin typeface="Georgia"/>
            </a:endParaRPr>
          </a:p>
          <a:p>
            <a:pPr marL="685800" indent="-685800" algn="l"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Georgia"/>
              </a:rPr>
              <a:t>USD/JPY Exchange Rate</a:t>
            </a:r>
          </a:p>
          <a:p>
            <a:pPr marL="685800" indent="-685800" algn="l">
              <a:buFont typeface="Arial"/>
              <a:buChar char="•"/>
            </a:pPr>
            <a:endParaRPr lang="en-US" sz="4800">
              <a:solidFill>
                <a:srgbClr val="FFFFFF"/>
              </a:solidFill>
              <a:latin typeface="Georgia"/>
            </a:endParaRPr>
          </a:p>
          <a:p>
            <a:pPr marL="685800" indent="-685800" algn="l"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Georgia"/>
              </a:rPr>
              <a:t>Brent Crude Oil Prices</a:t>
            </a:r>
          </a:p>
          <a:p>
            <a:pPr algn="l"/>
            <a:endParaRPr lang="en-US" sz="4800">
              <a:solidFill>
                <a:srgbClr val="FFFFFF"/>
              </a:solidFill>
              <a:latin typeface="Georgia"/>
            </a:endParaRPr>
          </a:p>
          <a:p>
            <a:pPr marL="685800" indent="-685800" algn="l"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Georgia"/>
              </a:rPr>
              <a:t>VIX Index</a:t>
            </a:r>
          </a:p>
        </p:txBody>
      </p:sp>
    </p:spTree>
    <p:extLst>
      <p:ext uri="{BB962C8B-B14F-4D97-AF65-F5344CB8AC3E}">
        <p14:creationId xmlns:p14="http://schemas.microsoft.com/office/powerpoint/2010/main" val="2026953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62E38-8A91-6292-66ED-A769756B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617204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Georgia"/>
              </a:rPr>
              <a:t>S&amp;P 500 Prices vs. Commodity Price Returns</a:t>
            </a:r>
            <a:endParaRPr lang="en-US" sz="4000" kern="12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EACA-3D9F-ADFB-AEE9-38896ED4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Georgia"/>
              </a:rPr>
              <a:t>How </a:t>
            </a:r>
            <a:r>
              <a:rPr lang="en-US" sz="2000">
                <a:solidFill>
                  <a:srgbClr val="FFFFFF"/>
                </a:solidFill>
                <a:latin typeface="Georgia"/>
              </a:rPr>
              <a:t>do macroeconomic</a:t>
            </a:r>
            <a:r>
              <a:rPr lang="en-US" sz="2000" kern="1200">
                <a:solidFill>
                  <a:srgbClr val="FFFFFF"/>
                </a:solidFill>
                <a:latin typeface="Georgia"/>
              </a:rPr>
              <a:t> </a:t>
            </a:r>
            <a:r>
              <a:rPr lang="en-US" sz="2000">
                <a:solidFill>
                  <a:srgbClr val="FFFFFF"/>
                </a:solidFill>
                <a:latin typeface="Georgia"/>
              </a:rPr>
              <a:t>factors </a:t>
            </a:r>
            <a:r>
              <a:rPr lang="en-US" sz="2000" kern="1200">
                <a:solidFill>
                  <a:srgbClr val="FFFFFF"/>
                </a:solidFill>
                <a:latin typeface="Georgia"/>
              </a:rPr>
              <a:t>affect commodity prices?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1E614F-9906-B09E-4BE1-41F6C33C9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704" y="3832465"/>
            <a:ext cx="4107688" cy="28448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6C857A-E7A1-F10D-D5E2-96576CA94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292" y="283691"/>
            <a:ext cx="4300611" cy="32624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56FE71-AF5B-5640-1437-2FB2DF679ABF}"/>
              </a:ext>
            </a:extLst>
          </p:cNvPr>
          <p:cNvSpPr txBox="1"/>
          <p:nvPr/>
        </p:nvSpPr>
        <p:spPr>
          <a:xfrm>
            <a:off x="4131926" y="1711766"/>
            <a:ext cx="2963477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b="1">
                <a:latin typeface="Georgia"/>
                <a:ea typeface="+mn-lt"/>
                <a:cs typeface="+mn-lt"/>
              </a:rPr>
              <a:t>Copper:</a:t>
            </a:r>
            <a:r>
              <a:rPr lang="en-US" sz="1400">
                <a:latin typeface="Georgia"/>
                <a:ea typeface="+mn-lt"/>
                <a:cs typeface="+mn-lt"/>
              </a:rPr>
              <a:t> Strong alignment with S&amp;P 500-&gt; dependence on broader market and economic trends.</a:t>
            </a:r>
            <a:endParaRPr lang="en-US" sz="1400">
              <a:latin typeface="Georg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latin typeface="Georgia"/>
                <a:ea typeface="+mn-lt"/>
                <a:cs typeface="+mn-lt"/>
              </a:rPr>
              <a:t>Gold:</a:t>
            </a:r>
            <a:r>
              <a:rPr lang="en-US" sz="1400">
                <a:latin typeface="Georgia"/>
                <a:ea typeface="+mn-lt"/>
                <a:cs typeface="+mn-lt"/>
              </a:rPr>
              <a:t> Minimal correlation with S&amp;P 500-&gt; detachment from equity market movements.</a:t>
            </a:r>
            <a:endParaRPr lang="en-US" sz="1400">
              <a:latin typeface="Georg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latin typeface="Georgia"/>
                <a:ea typeface="+mn-lt"/>
                <a:cs typeface="+mn-lt"/>
              </a:rPr>
              <a:t>Platinum:</a:t>
            </a:r>
            <a:r>
              <a:rPr lang="en-US" sz="1400">
                <a:latin typeface="Georgia"/>
                <a:ea typeface="+mn-lt"/>
                <a:cs typeface="+mn-lt"/>
              </a:rPr>
              <a:t> Moderate correlation -&gt; price reacts to both industrial demand and market performance.</a:t>
            </a:r>
            <a:endParaRPr lang="en-US" sz="1400">
              <a:latin typeface="Georgia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latin typeface="Georgia"/>
                <a:ea typeface="+mn-lt"/>
                <a:cs typeface="+mn-lt"/>
              </a:rPr>
              <a:t>Silver:</a:t>
            </a:r>
            <a:r>
              <a:rPr lang="en-US" sz="1400">
                <a:latin typeface="Georgia"/>
                <a:ea typeface="+mn-lt"/>
                <a:cs typeface="+mn-lt"/>
              </a:rPr>
              <a:t> Balanced response to S&amp;P 500-&gt; hybrid role as both an industrial commodity and a store of value.</a:t>
            </a:r>
            <a:endParaRPr lang="en-US" sz="1400">
              <a:latin typeface="Georgia"/>
            </a:endParaRPr>
          </a:p>
          <a:p>
            <a:endParaRPr lang="en-US" sz="1400"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544091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62E38-8A91-6292-66ED-A769756B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617204"/>
            <a:ext cx="2880828" cy="307190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  <a:latin typeface="Georgia"/>
              </a:rPr>
              <a:t>USD/JPY Currency Exchange vs. Commodity Price Returns</a:t>
            </a:r>
            <a:endParaRPr lang="en-US" sz="4000" kern="12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EACA-3D9F-ADFB-AEE9-38896ED4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Georgia"/>
              </a:rPr>
              <a:t>How </a:t>
            </a:r>
            <a:r>
              <a:rPr lang="en-US" sz="2000">
                <a:solidFill>
                  <a:srgbClr val="FFFFFF"/>
                </a:solidFill>
                <a:latin typeface="Georgia"/>
              </a:rPr>
              <a:t>do macroeconomic</a:t>
            </a:r>
            <a:r>
              <a:rPr lang="en-US" sz="2000" kern="1200">
                <a:solidFill>
                  <a:srgbClr val="FFFFFF"/>
                </a:solidFill>
                <a:latin typeface="Georgia"/>
              </a:rPr>
              <a:t> </a:t>
            </a:r>
            <a:r>
              <a:rPr lang="en-US" sz="2000">
                <a:solidFill>
                  <a:srgbClr val="FFFFFF"/>
                </a:solidFill>
                <a:latin typeface="Georgia"/>
              </a:rPr>
              <a:t>factors </a:t>
            </a:r>
            <a:r>
              <a:rPr lang="en-US" sz="2000" kern="1200">
                <a:solidFill>
                  <a:srgbClr val="FFFFFF"/>
                </a:solidFill>
                <a:latin typeface="Georgia"/>
              </a:rPr>
              <a:t>affect commodity prices? </a:t>
            </a:r>
          </a:p>
        </p:txBody>
      </p:sp>
      <p:pic>
        <p:nvPicPr>
          <p:cNvPr id="4" name="Picture 3" descr="A graph of a graph&#10;&#10;Description automatically generated">
            <a:extLst>
              <a:ext uri="{FF2B5EF4-FFF2-40B4-BE49-F238E27FC236}">
                <a16:creationId xmlns:a16="http://schemas.microsoft.com/office/drawing/2014/main" id="{BD9DBB3D-0562-440D-4687-2FEC3723B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905" y="299781"/>
            <a:ext cx="7112000" cy="4643723"/>
          </a:xfrm>
          <a:prstGeom prst="rect">
            <a:avLst/>
          </a:prstGeom>
        </p:spPr>
      </p:pic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F34C1032-32A7-3990-F207-171A57852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461963"/>
              </p:ext>
            </p:extLst>
          </p:nvPr>
        </p:nvGraphicFramePr>
        <p:xfrm>
          <a:off x="5442857" y="5164666"/>
          <a:ext cx="5821512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4941">
                  <a:extLst>
                    <a:ext uri="{9D8B030D-6E8A-4147-A177-3AD203B41FA5}">
                      <a16:colId xmlns:a16="http://schemas.microsoft.com/office/drawing/2014/main" val="2285103712"/>
                    </a:ext>
                  </a:extLst>
                </a:gridCol>
                <a:gridCol w="2896571">
                  <a:extLst>
                    <a:ext uri="{9D8B030D-6E8A-4147-A177-3AD203B41FA5}">
                      <a16:colId xmlns:a16="http://schemas.microsoft.com/office/drawing/2014/main" val="2082410605"/>
                    </a:ext>
                  </a:extLst>
                </a:gridCol>
              </a:tblGrid>
              <a:tr h="2472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latin typeface="Georgia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Georgia"/>
                        </a:rPr>
                        <a:t>Correlation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865028"/>
                  </a:ext>
                </a:extLst>
              </a:tr>
              <a:tr h="2472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latin typeface="Georgia"/>
                        </a:rPr>
                        <a:t>Currency and Copper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Georgia"/>
                        </a:rPr>
                        <a:t>-0.0307</a:t>
                      </a:r>
                      <a:endParaRPr lang="en-US" sz="1100">
                        <a:latin typeface="Georgi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683005"/>
                  </a:ext>
                </a:extLst>
              </a:tr>
              <a:tr h="2472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latin typeface="Georgia"/>
                        </a:rPr>
                        <a:t>Currency and 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Georgia"/>
                        </a:rPr>
                        <a:t>-0.0640</a:t>
                      </a:r>
                      <a:endParaRPr lang="en-US" sz="1100">
                        <a:latin typeface="Georgi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927867"/>
                  </a:ext>
                </a:extLst>
              </a:tr>
              <a:tr h="2472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latin typeface="Georgia"/>
                        </a:rPr>
                        <a:t>Currency and Platinum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Georgia"/>
                        </a:rPr>
                        <a:t>-0.0403</a:t>
                      </a:r>
                      <a:endParaRPr lang="en-US" sz="1100">
                        <a:latin typeface="Georgi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533834"/>
                  </a:ext>
                </a:extLst>
              </a:tr>
              <a:tr h="2472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>
                          <a:latin typeface="Georgia"/>
                        </a:rPr>
                        <a:t>Currency and Silver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latin typeface="Georgia"/>
                        </a:rPr>
                        <a:t>-0.0313</a:t>
                      </a:r>
                      <a:endParaRPr lang="en-US" sz="1100">
                        <a:latin typeface="Georgi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817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2778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62E38-8A91-6292-66ED-A769756B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617204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Georgia"/>
              </a:rPr>
              <a:t>Crude Oil Prices vs. Commodity Price Returns</a:t>
            </a:r>
            <a:endParaRPr lang="en-US" sz="4000" kern="12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EACA-3D9F-ADFB-AEE9-38896ED4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Georgia"/>
              </a:rPr>
              <a:t>How </a:t>
            </a:r>
            <a:r>
              <a:rPr lang="en-US" sz="2000">
                <a:solidFill>
                  <a:srgbClr val="FFFFFF"/>
                </a:solidFill>
                <a:latin typeface="Georgia"/>
              </a:rPr>
              <a:t>do macroeconomic</a:t>
            </a:r>
            <a:r>
              <a:rPr lang="en-US" sz="2000" kern="1200">
                <a:solidFill>
                  <a:srgbClr val="FFFFFF"/>
                </a:solidFill>
                <a:latin typeface="Georgia"/>
              </a:rPr>
              <a:t> </a:t>
            </a:r>
            <a:r>
              <a:rPr lang="en-US" sz="2000">
                <a:solidFill>
                  <a:srgbClr val="FFFFFF"/>
                </a:solidFill>
                <a:latin typeface="Georgia"/>
              </a:rPr>
              <a:t>factors </a:t>
            </a:r>
            <a:r>
              <a:rPr lang="en-US" sz="2000" kern="1200">
                <a:solidFill>
                  <a:srgbClr val="FFFFFF"/>
                </a:solidFill>
                <a:latin typeface="Georgia"/>
              </a:rPr>
              <a:t>affect commodity prices? </a:t>
            </a:r>
          </a:p>
        </p:txBody>
      </p:sp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8DA58EB3-8F49-186D-6EFF-3ED875BF6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499" y="65316"/>
            <a:ext cx="5045092" cy="67334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867E14-096E-33EE-6514-1F8C3D74E4F4}"/>
              </a:ext>
            </a:extLst>
          </p:cNvPr>
          <p:cNvSpPr txBox="1"/>
          <p:nvPr/>
        </p:nvSpPr>
        <p:spPr>
          <a:xfrm>
            <a:off x="10051142" y="1675190"/>
            <a:ext cx="2183189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Georgia"/>
                <a:ea typeface="+mn-lt"/>
                <a:cs typeface="+mn-lt"/>
              </a:rPr>
              <a:t>Crude Oil and Copper: 0.2983</a:t>
            </a:r>
            <a:endParaRPr lang="en-US">
              <a:latin typeface="Georgia"/>
            </a:endParaRPr>
          </a:p>
          <a:p>
            <a:endParaRPr lang="en-US">
              <a:latin typeface="Georgia"/>
              <a:ea typeface="+mn-lt"/>
              <a:cs typeface="+mn-lt"/>
            </a:endParaRPr>
          </a:p>
          <a:p>
            <a:r>
              <a:rPr lang="en-US">
                <a:latin typeface="Georgia"/>
                <a:ea typeface="+mn-lt"/>
                <a:cs typeface="+mn-lt"/>
              </a:rPr>
              <a:t>Crude Oil and Gold: 0.1202</a:t>
            </a:r>
            <a:endParaRPr lang="en-US">
              <a:latin typeface="Georgia"/>
            </a:endParaRPr>
          </a:p>
          <a:p>
            <a:endParaRPr lang="en-US">
              <a:latin typeface="Georgia"/>
              <a:ea typeface="+mn-lt"/>
              <a:cs typeface="+mn-lt"/>
            </a:endParaRPr>
          </a:p>
          <a:p>
            <a:r>
              <a:rPr lang="en-US">
                <a:latin typeface="Georgia"/>
                <a:ea typeface="+mn-lt"/>
                <a:cs typeface="+mn-lt"/>
              </a:rPr>
              <a:t>Crude Oil and Platinum: 0.2314</a:t>
            </a:r>
            <a:endParaRPr lang="en-US">
              <a:latin typeface="Georgia"/>
            </a:endParaRPr>
          </a:p>
          <a:p>
            <a:endParaRPr lang="en-US">
              <a:latin typeface="Georgia"/>
              <a:ea typeface="+mn-lt"/>
              <a:cs typeface="+mn-lt"/>
            </a:endParaRPr>
          </a:p>
          <a:p>
            <a:r>
              <a:rPr lang="en-US">
                <a:latin typeface="Georgia"/>
                <a:ea typeface="+mn-lt"/>
                <a:cs typeface="+mn-lt"/>
              </a:rPr>
              <a:t>Crude Oil and Silver: 0.2029</a:t>
            </a:r>
            <a:endParaRPr lang="en-US">
              <a:latin typeface="Georgi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E6563-CB62-59E7-A5D3-44BD6119A18E}"/>
              </a:ext>
            </a:extLst>
          </p:cNvPr>
          <p:cNvSpPr txBox="1"/>
          <p:nvPr/>
        </p:nvSpPr>
        <p:spPr>
          <a:xfrm>
            <a:off x="10051143" y="1028094"/>
            <a:ext cx="19594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u="sng">
                <a:latin typeface="Georgia"/>
              </a:rPr>
              <a:t>Correlations</a:t>
            </a:r>
          </a:p>
        </p:txBody>
      </p:sp>
    </p:spTree>
    <p:extLst>
      <p:ext uri="{BB962C8B-B14F-4D97-AF65-F5344CB8AC3E}">
        <p14:creationId xmlns:p14="http://schemas.microsoft.com/office/powerpoint/2010/main" val="400100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409" y="2978555"/>
            <a:ext cx="4901139" cy="905181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rgbClr val="FFFFFF"/>
                </a:solidFill>
                <a:latin typeface="Georgia"/>
              </a:rPr>
              <a:t>Monthly Factors</a:t>
            </a:r>
            <a:endParaRPr lang="en-US" b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179F47-F82B-4E3A-0410-170D19CF1C6A}"/>
              </a:ext>
            </a:extLst>
          </p:cNvPr>
          <p:cNvSpPr txBox="1">
            <a:spLocks/>
          </p:cNvSpPr>
          <p:nvPr/>
        </p:nvSpPr>
        <p:spPr>
          <a:xfrm>
            <a:off x="6555969" y="2010815"/>
            <a:ext cx="4664919" cy="37474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 algn="l"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Georgia"/>
              </a:rPr>
              <a:t>Fed Funds Rate</a:t>
            </a:r>
          </a:p>
          <a:p>
            <a:pPr marL="685800" indent="-685800" algn="l">
              <a:buFont typeface="Arial"/>
              <a:buChar char="•"/>
            </a:pPr>
            <a:endParaRPr lang="en-US" sz="4800">
              <a:solidFill>
                <a:srgbClr val="FFFFFF"/>
              </a:solidFill>
              <a:latin typeface="Georgia"/>
            </a:endParaRPr>
          </a:p>
          <a:p>
            <a:pPr marL="685800" indent="-685800" algn="l"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Georgia"/>
              </a:rPr>
              <a:t>Unemployment Rate</a:t>
            </a:r>
          </a:p>
          <a:p>
            <a:pPr marL="685800" indent="-685800" algn="l">
              <a:buFont typeface="Arial"/>
              <a:buChar char="•"/>
            </a:pPr>
            <a:endParaRPr lang="en-US" sz="4800">
              <a:solidFill>
                <a:srgbClr val="FFFFFF"/>
              </a:solidFill>
              <a:latin typeface="Georgia"/>
            </a:endParaRPr>
          </a:p>
          <a:p>
            <a:pPr marL="685800" indent="-685800" algn="l"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Georgia"/>
              </a:rPr>
              <a:t>Industrial Production</a:t>
            </a:r>
          </a:p>
          <a:p>
            <a:pPr marL="685800" indent="-685800" algn="l">
              <a:buFont typeface="Arial"/>
              <a:buChar char="•"/>
            </a:pPr>
            <a:endParaRPr lang="en-US" sz="4800">
              <a:solidFill>
                <a:srgbClr val="FFFFFF"/>
              </a:solidFill>
              <a:latin typeface="Georgia"/>
            </a:endParaRPr>
          </a:p>
          <a:p>
            <a:pPr marL="685800" indent="-685800" algn="l"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Georgia"/>
              </a:rPr>
              <a:t>CPI Growth Rate </a:t>
            </a:r>
          </a:p>
          <a:p>
            <a:pPr marL="685800" indent="-685800" algn="l">
              <a:buFont typeface="Arial"/>
              <a:buChar char="•"/>
            </a:pPr>
            <a:endParaRPr lang="en-US" sz="4800">
              <a:solidFill>
                <a:srgbClr val="FFFFFF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590960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62E38-8A91-6292-66ED-A769756B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617204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Georgia"/>
              </a:rPr>
              <a:t>Fed Funds</a:t>
            </a:r>
            <a:r>
              <a:rPr lang="en-US" sz="4000" kern="1200">
                <a:solidFill>
                  <a:srgbClr val="FFFFFF"/>
                </a:solidFill>
                <a:latin typeface="Georgia"/>
              </a:rPr>
              <a:t> </a:t>
            </a:r>
            <a:r>
              <a:rPr lang="en-US" sz="4000">
                <a:solidFill>
                  <a:srgbClr val="FFFFFF"/>
                </a:solidFill>
                <a:latin typeface="Georgia"/>
              </a:rPr>
              <a:t>Rate </a:t>
            </a:r>
            <a:r>
              <a:rPr lang="en-US" sz="4000" kern="1200">
                <a:solidFill>
                  <a:srgbClr val="FFFFFF"/>
                </a:solidFill>
                <a:latin typeface="Georgia"/>
              </a:rPr>
              <a:t>vs. Commodity </a:t>
            </a:r>
            <a:r>
              <a:rPr lang="en-US" sz="4000">
                <a:solidFill>
                  <a:srgbClr val="FFFFFF"/>
                </a:solidFill>
                <a:latin typeface="Georgia"/>
              </a:rPr>
              <a:t>Price Returns</a:t>
            </a:r>
            <a:endParaRPr lang="en-US" sz="4000" kern="12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EACA-3D9F-ADFB-AEE9-38896ED4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Georgia"/>
              </a:rPr>
              <a:t>How </a:t>
            </a:r>
            <a:r>
              <a:rPr lang="en-US" sz="2000">
                <a:solidFill>
                  <a:srgbClr val="FFFFFF"/>
                </a:solidFill>
                <a:latin typeface="Georgia"/>
              </a:rPr>
              <a:t>do</a:t>
            </a:r>
            <a:r>
              <a:rPr lang="en-US" sz="2000" kern="1200">
                <a:solidFill>
                  <a:srgbClr val="FFFFFF"/>
                </a:solidFill>
                <a:latin typeface="Georgia"/>
              </a:rPr>
              <a:t> </a:t>
            </a:r>
            <a:r>
              <a:rPr lang="en-US" sz="2000">
                <a:solidFill>
                  <a:srgbClr val="FFFFFF"/>
                </a:solidFill>
                <a:latin typeface="Georgia"/>
              </a:rPr>
              <a:t>macroeconomic factors </a:t>
            </a:r>
            <a:r>
              <a:rPr lang="en-US" sz="2000" kern="1200">
                <a:solidFill>
                  <a:srgbClr val="FFFFFF"/>
                </a:solidFill>
                <a:latin typeface="Georgia"/>
              </a:rPr>
              <a:t>affect commodity prices?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23CCC5-9F40-47BB-AD55-3A98AC24DDC2}"/>
              </a:ext>
            </a:extLst>
          </p:cNvPr>
          <p:cNvSpPr txBox="1"/>
          <p:nvPr/>
        </p:nvSpPr>
        <p:spPr>
          <a:xfrm>
            <a:off x="4156782" y="1102565"/>
            <a:ext cx="74790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solidFill>
                  <a:srgbClr val="FFC000"/>
                </a:solidFill>
                <a:latin typeface="Georgia"/>
              </a:rPr>
              <a:t>Gold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832F4E-1632-0091-FB77-23B3963E79C8}"/>
              </a:ext>
            </a:extLst>
          </p:cNvPr>
          <p:cNvSpPr txBox="1"/>
          <p:nvPr/>
        </p:nvSpPr>
        <p:spPr>
          <a:xfrm>
            <a:off x="4012466" y="3352194"/>
            <a:ext cx="120598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solidFill>
                  <a:srgbClr val="7030A0"/>
                </a:solidFill>
                <a:latin typeface="Georgia"/>
              </a:rPr>
              <a:t>Platinum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0666A7-3466-C0C0-4C83-5C2C3775DA1B}"/>
              </a:ext>
            </a:extLst>
          </p:cNvPr>
          <p:cNvSpPr txBox="1"/>
          <p:nvPr/>
        </p:nvSpPr>
        <p:spPr>
          <a:xfrm>
            <a:off x="8228990" y="1090073"/>
            <a:ext cx="78754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solidFill>
                  <a:schemeClr val="bg2">
                    <a:lumMod val="49000"/>
                  </a:schemeClr>
                </a:solidFill>
                <a:latin typeface="Georgia"/>
              </a:rPr>
              <a:t>Silver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591CEE-71A0-7BC8-C5B1-E1F425E03425}"/>
              </a:ext>
            </a:extLst>
          </p:cNvPr>
          <p:cNvSpPr txBox="1"/>
          <p:nvPr/>
        </p:nvSpPr>
        <p:spPr>
          <a:xfrm>
            <a:off x="8178372" y="3297768"/>
            <a:ext cx="96373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solidFill>
                  <a:schemeClr val="accent2">
                    <a:lumMod val="49000"/>
                  </a:schemeClr>
                </a:solidFill>
                <a:latin typeface="Georgia"/>
              </a:rPr>
              <a:t>Copper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21D0B34-D0AD-397B-FAFA-A7241A106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587711"/>
              </p:ext>
            </p:extLst>
          </p:nvPr>
        </p:nvGraphicFramePr>
        <p:xfrm>
          <a:off x="6237573" y="4680261"/>
          <a:ext cx="3881974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987">
                  <a:extLst>
                    <a:ext uri="{9D8B030D-6E8A-4147-A177-3AD203B41FA5}">
                      <a16:colId xmlns:a16="http://schemas.microsoft.com/office/drawing/2014/main" val="2884973816"/>
                    </a:ext>
                  </a:extLst>
                </a:gridCol>
                <a:gridCol w="1940987">
                  <a:extLst>
                    <a:ext uri="{9D8B030D-6E8A-4147-A177-3AD203B41FA5}">
                      <a16:colId xmlns:a16="http://schemas.microsoft.com/office/drawing/2014/main" val="2542012885"/>
                    </a:ext>
                  </a:extLst>
                </a:gridCol>
              </a:tblGrid>
              <a:tr h="637081">
                <a:tc>
                  <a:txBody>
                    <a:bodyPr/>
                    <a:lstStyle/>
                    <a:p>
                      <a:r>
                        <a:rPr lang="en-US">
                          <a:latin typeface="Georgia"/>
                        </a:rPr>
                        <a:t>Commodity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/>
                        </a:rPr>
                        <a:t>Correlation Coefficient*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058893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r>
                        <a:rPr lang="en-US">
                          <a:latin typeface="Georgia"/>
                        </a:rPr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/>
                        </a:rPr>
                        <a:t>0.1732</a:t>
                      </a:r>
                    </a:p>
                  </a:txBody>
                  <a:tcPr>
                    <a:solidFill>
                      <a:srgbClr val="F7D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530412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r>
                        <a:rPr lang="en-US">
                          <a:latin typeface="Georgia"/>
                        </a:rPr>
                        <a:t>Silver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/>
                        </a:rPr>
                        <a:t>0.0897</a:t>
                      </a:r>
                    </a:p>
                  </a:txBody>
                  <a:tcPr>
                    <a:solidFill>
                      <a:srgbClr val="D69A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104019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r>
                        <a:rPr lang="en-US">
                          <a:latin typeface="Georgia"/>
                        </a:rPr>
                        <a:t>Platinum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Georgia"/>
                        </a:rPr>
                        <a:t>0.0570</a:t>
                      </a:r>
                    </a:p>
                  </a:txBody>
                  <a:tcPr>
                    <a:solidFill>
                      <a:srgbClr val="DE4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081442"/>
                  </a:ext>
                </a:extLst>
              </a:tr>
              <a:tr h="233732">
                <a:tc>
                  <a:txBody>
                    <a:bodyPr/>
                    <a:lstStyle/>
                    <a:p>
                      <a:r>
                        <a:rPr lang="en-US">
                          <a:latin typeface="Georgia"/>
                        </a:rPr>
                        <a:t>Copper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Georgia"/>
                        </a:rPr>
                        <a:t>0.0197</a:t>
                      </a:r>
                    </a:p>
                  </a:txBody>
                  <a:tcPr>
                    <a:solidFill>
                      <a:srgbClr val="F00A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555211"/>
                  </a:ext>
                </a:extLst>
              </a:tr>
            </a:tbl>
          </a:graphicData>
        </a:graphic>
      </p:graphicFrame>
      <p:pic>
        <p:nvPicPr>
          <p:cNvPr id="4" name="Picture 3" descr="A graph with yellow dots&#10;&#10;Description automatically generated">
            <a:extLst>
              <a:ext uri="{FF2B5EF4-FFF2-40B4-BE49-F238E27FC236}">
                <a16:creationId xmlns:a16="http://schemas.microsoft.com/office/drawing/2014/main" id="{9E298E63-3149-0EB8-527C-E0D37C0FBE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10" t="266" r="1205"/>
          <a:stretch/>
        </p:blipFill>
        <p:spPr>
          <a:xfrm>
            <a:off x="4913580" y="322412"/>
            <a:ext cx="2960485" cy="1845661"/>
          </a:xfrm>
          <a:prstGeom prst="rect">
            <a:avLst/>
          </a:prstGeom>
        </p:spPr>
      </p:pic>
      <p:pic>
        <p:nvPicPr>
          <p:cNvPr id="5" name="Picture 4" descr="A graph of a graph showing the rate of silver&#10;&#10;Description automatically generated">
            <a:extLst>
              <a:ext uri="{FF2B5EF4-FFF2-40B4-BE49-F238E27FC236}">
                <a16:creationId xmlns:a16="http://schemas.microsoft.com/office/drawing/2014/main" id="{EFA20DF2-F463-C47A-43FE-80183DFAA9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13" t="652" r="626" b="-2093"/>
          <a:stretch/>
        </p:blipFill>
        <p:spPr>
          <a:xfrm>
            <a:off x="8897829" y="333318"/>
            <a:ext cx="2888980" cy="1863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02F7D6-E331-BF75-8FAA-B938C26890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" t="351" r="1511" b="-2545"/>
          <a:stretch/>
        </p:blipFill>
        <p:spPr>
          <a:xfrm>
            <a:off x="4918665" y="2449109"/>
            <a:ext cx="2955366" cy="2057800"/>
          </a:xfrm>
          <a:prstGeom prst="rect">
            <a:avLst/>
          </a:prstGeom>
        </p:spPr>
      </p:pic>
      <p:pic>
        <p:nvPicPr>
          <p:cNvPr id="10" name="Picture 9" descr="A graph of red dots&#10;&#10;Description automatically generated">
            <a:extLst>
              <a:ext uri="{FF2B5EF4-FFF2-40B4-BE49-F238E27FC236}">
                <a16:creationId xmlns:a16="http://schemas.microsoft.com/office/drawing/2014/main" id="{7287D9AE-502E-B861-97AD-EB709C046E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19" b="-364"/>
          <a:stretch/>
        </p:blipFill>
        <p:spPr>
          <a:xfrm>
            <a:off x="8891153" y="2449284"/>
            <a:ext cx="2890460" cy="201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845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62E38-8A91-6292-66ED-A769756B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81" y="2601964"/>
            <a:ext cx="373426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Georgia"/>
              </a:rPr>
              <a:t>Unemployment Rate vs. Commodity Price Returns</a:t>
            </a:r>
            <a:endParaRPr lang="en-US" sz="4000" kern="12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EACA-3D9F-ADFB-AEE9-38896ED4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Georgia"/>
              </a:rPr>
              <a:t>How </a:t>
            </a:r>
            <a:r>
              <a:rPr lang="en-US" sz="2000">
                <a:solidFill>
                  <a:srgbClr val="FFFFFF"/>
                </a:solidFill>
                <a:latin typeface="Georgia"/>
              </a:rPr>
              <a:t>do macroeconomic</a:t>
            </a:r>
            <a:r>
              <a:rPr lang="en-US" sz="2000" kern="1200">
                <a:solidFill>
                  <a:srgbClr val="FFFFFF"/>
                </a:solidFill>
                <a:latin typeface="Georgia"/>
              </a:rPr>
              <a:t> </a:t>
            </a:r>
            <a:r>
              <a:rPr lang="en-US" sz="2000">
                <a:solidFill>
                  <a:srgbClr val="FFFFFF"/>
                </a:solidFill>
                <a:latin typeface="Georgia"/>
              </a:rPr>
              <a:t>factors </a:t>
            </a:r>
            <a:r>
              <a:rPr lang="en-US" sz="2000" kern="1200">
                <a:solidFill>
                  <a:srgbClr val="FFFFFF"/>
                </a:solidFill>
                <a:latin typeface="Georgia"/>
              </a:rPr>
              <a:t>affect commodity prices? </a:t>
            </a:r>
          </a:p>
        </p:txBody>
      </p:sp>
      <p:pic>
        <p:nvPicPr>
          <p:cNvPr id="5" name="Picture 4" descr="A group of graphs showing different colored dots&#10;&#10;Description automatically generated">
            <a:extLst>
              <a:ext uri="{FF2B5EF4-FFF2-40B4-BE49-F238E27FC236}">
                <a16:creationId xmlns:a16="http://schemas.microsoft.com/office/drawing/2014/main" id="{49832AC5-293A-11F3-EBC9-49574156D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352" y="476552"/>
            <a:ext cx="6818732" cy="586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78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onnsiteX0" fmla="*/ 0 w 3566160"/>
              <a:gd name="connsiteY0" fmla="*/ 0 h 18288"/>
              <a:gd name="connsiteX1" fmla="*/ 665683 w 3566160"/>
              <a:gd name="connsiteY1" fmla="*/ 0 h 18288"/>
              <a:gd name="connsiteX2" fmla="*/ 1331366 w 3566160"/>
              <a:gd name="connsiteY2" fmla="*/ 0 h 18288"/>
              <a:gd name="connsiteX3" fmla="*/ 1818742 w 3566160"/>
              <a:gd name="connsiteY3" fmla="*/ 0 h 18288"/>
              <a:gd name="connsiteX4" fmla="*/ 2413102 w 3566160"/>
              <a:gd name="connsiteY4" fmla="*/ 0 h 18288"/>
              <a:gd name="connsiteX5" fmla="*/ 2936138 w 3566160"/>
              <a:gd name="connsiteY5" fmla="*/ 0 h 18288"/>
              <a:gd name="connsiteX6" fmla="*/ 3566160 w 3566160"/>
              <a:gd name="connsiteY6" fmla="*/ 0 h 18288"/>
              <a:gd name="connsiteX7" fmla="*/ 3566160 w 3566160"/>
              <a:gd name="connsiteY7" fmla="*/ 18288 h 18288"/>
              <a:gd name="connsiteX8" fmla="*/ 2971800 w 3566160"/>
              <a:gd name="connsiteY8" fmla="*/ 18288 h 18288"/>
              <a:gd name="connsiteX9" fmla="*/ 2448763 w 3566160"/>
              <a:gd name="connsiteY9" fmla="*/ 18288 h 18288"/>
              <a:gd name="connsiteX10" fmla="*/ 1854403 w 3566160"/>
              <a:gd name="connsiteY10" fmla="*/ 18288 h 18288"/>
              <a:gd name="connsiteX11" fmla="*/ 1295705 w 3566160"/>
              <a:gd name="connsiteY11" fmla="*/ 18288 h 18288"/>
              <a:gd name="connsiteX12" fmla="*/ 772668 w 3566160"/>
              <a:gd name="connsiteY12" fmla="*/ 18288 h 18288"/>
              <a:gd name="connsiteX13" fmla="*/ 0 w 3566160"/>
              <a:gd name="connsiteY13" fmla="*/ 18288 h 18288"/>
              <a:gd name="connsiteX14" fmla="*/ 0 w 356616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B453F8-A603-0266-1E85-5E8558B26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167"/>
            <a:ext cx="3895522" cy="3386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Monte Carlo Simulation for unemployment rate vs each of the commodities</a:t>
            </a:r>
          </a:p>
        </p:txBody>
      </p:sp>
      <p:pic>
        <p:nvPicPr>
          <p:cNvPr id="3" name="Picture 2" descr="A blue dot diagram with white text&#10;&#10;Description automatically generated">
            <a:extLst>
              <a:ext uri="{FF2B5EF4-FFF2-40B4-BE49-F238E27FC236}">
                <a16:creationId xmlns:a16="http://schemas.microsoft.com/office/drawing/2014/main" id="{D45E5B99-350C-37E5-A66F-AEF5FFDFD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4243" y="1274825"/>
            <a:ext cx="3099816" cy="19528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A248EA-64BC-F3D6-9507-1EA163FC6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481" y="1071552"/>
            <a:ext cx="3785616" cy="23565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FC08BBF-6756-E108-AAD6-9DC96BA87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8148" y="4036794"/>
            <a:ext cx="3099816" cy="1952883"/>
          </a:xfrm>
          <a:prstGeom prst="rect">
            <a:avLst/>
          </a:prstGeom>
        </p:spPr>
      </p:pic>
      <p:pic>
        <p:nvPicPr>
          <p:cNvPr id="5" name="Picture 4" descr="A blue dot diagram with white background&#10;&#10;Description automatically generated">
            <a:extLst>
              <a:ext uri="{FF2B5EF4-FFF2-40B4-BE49-F238E27FC236}">
                <a16:creationId xmlns:a16="http://schemas.microsoft.com/office/drawing/2014/main" id="{D92311F3-C57D-7354-0655-00BF277FD7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7412" y="3810229"/>
            <a:ext cx="3785616" cy="238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31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62E38-8A91-6292-66ED-A769756B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617204"/>
            <a:ext cx="3117048" cy="307190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  <a:latin typeface="Georgia"/>
              </a:rPr>
              <a:t>Industrial Production vs. Commodity Price Returns</a:t>
            </a:r>
            <a:endParaRPr lang="en-US" sz="4000" kern="12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EACA-3D9F-ADFB-AEE9-38896ED4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Georgia"/>
              </a:rPr>
              <a:t>How </a:t>
            </a:r>
            <a:r>
              <a:rPr lang="en-US" sz="2000">
                <a:solidFill>
                  <a:srgbClr val="FFFFFF"/>
                </a:solidFill>
                <a:latin typeface="Georgia"/>
              </a:rPr>
              <a:t>do macroeconomic</a:t>
            </a:r>
            <a:r>
              <a:rPr lang="en-US" sz="2000" kern="1200">
                <a:solidFill>
                  <a:srgbClr val="FFFFFF"/>
                </a:solidFill>
                <a:latin typeface="Georgia"/>
              </a:rPr>
              <a:t> </a:t>
            </a:r>
            <a:r>
              <a:rPr lang="en-US" sz="2000">
                <a:solidFill>
                  <a:srgbClr val="FFFFFF"/>
                </a:solidFill>
                <a:latin typeface="Georgia"/>
              </a:rPr>
              <a:t>factors </a:t>
            </a:r>
            <a:r>
              <a:rPr lang="en-US" sz="2000" kern="1200">
                <a:solidFill>
                  <a:srgbClr val="FFFFFF"/>
                </a:solidFill>
                <a:latin typeface="Georgia"/>
              </a:rPr>
              <a:t>affect commodity prices?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A84427-3866-082D-F441-C97A2B031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676" y="476956"/>
            <a:ext cx="6255753" cy="44805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05A60A-40F4-1084-1366-5E465A4D23A4}"/>
              </a:ext>
            </a:extLst>
          </p:cNvPr>
          <p:cNvSpPr txBox="1"/>
          <p:nvPr/>
        </p:nvSpPr>
        <p:spPr>
          <a:xfrm>
            <a:off x="4509878" y="5052374"/>
            <a:ext cx="7407461" cy="19207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>
                <a:latin typeface="Georgia"/>
                <a:ea typeface="+mn-lt"/>
                <a:cs typeface="Arial"/>
              </a:rPr>
              <a:t>Gold and silver prices exhibit relative stability during periods of fluctuating industrial production-&gt;  “safe-haven assets” 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Georgia"/>
                <a:cs typeface="Arial"/>
              </a:rPr>
              <a:t>Copper prices show a closer alignment with industrial production trends-&gt; reliance on industrial demand and economic activity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latin typeface="Georgia"/>
                <a:cs typeface="Arial"/>
              </a:rPr>
              <a:t>Platinum price movements are less synchronized with industrial production -&gt;  dual role in industrial and luxury sector</a:t>
            </a:r>
          </a:p>
          <a:p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82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62E38-8A91-6292-66ED-A769756B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Georgia"/>
              </a:rPr>
              <a:t>CPI Data</a:t>
            </a:r>
            <a:r>
              <a:rPr lang="en-US" sz="4000">
                <a:solidFill>
                  <a:srgbClr val="FFFFFF"/>
                </a:solidFill>
                <a:latin typeface="Georgia"/>
              </a:rPr>
              <a:t>/Growth</a:t>
            </a:r>
            <a:r>
              <a:rPr lang="en-US" sz="4000" kern="1200">
                <a:solidFill>
                  <a:srgbClr val="FFFFFF"/>
                </a:solidFill>
                <a:latin typeface="Georgia"/>
              </a:rPr>
              <a:t> </a:t>
            </a:r>
            <a:r>
              <a:rPr lang="en-US" sz="4000">
                <a:solidFill>
                  <a:srgbClr val="FFFFFF"/>
                </a:solidFill>
                <a:latin typeface="Georgia"/>
              </a:rPr>
              <a:t>Rate </a:t>
            </a:r>
            <a:r>
              <a:rPr lang="en-US" sz="4000" kern="1200">
                <a:solidFill>
                  <a:srgbClr val="FFFFFF"/>
                </a:solidFill>
                <a:latin typeface="Georgia"/>
              </a:rPr>
              <a:t>vs. Commodity </a:t>
            </a:r>
            <a:r>
              <a:rPr lang="en-US" sz="4000">
                <a:solidFill>
                  <a:srgbClr val="FFFFFF"/>
                </a:solidFill>
                <a:latin typeface="Georgia"/>
              </a:rPr>
              <a:t>Price Returns</a:t>
            </a:r>
            <a:r>
              <a:rPr lang="en-US" sz="4000" kern="1200">
                <a:solidFill>
                  <a:srgbClr val="FFFFFF"/>
                </a:solidFill>
                <a:latin typeface="Georgia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EACA-3D9F-ADFB-AEE9-38896ED4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Georgia"/>
              </a:rPr>
              <a:t>How does inflation affect commodity prices? </a:t>
            </a:r>
          </a:p>
        </p:txBody>
      </p:sp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1D0E96F6-27C7-D067-342D-77C3E72D4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358" y="467208"/>
            <a:ext cx="6887888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715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0855A890-B60B-4670-9DC2-69DC05015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7C081-3876-FBAD-D3D3-CF12FEE8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67" y="372110"/>
            <a:ext cx="3574524" cy="2693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latin typeface="Georgia"/>
              </a:rPr>
              <a:t>Rolling Correlation Distribution</a:t>
            </a:r>
            <a:br>
              <a:rPr lang="en-US" sz="2000">
                <a:latin typeface="Georgia"/>
              </a:rPr>
            </a:br>
            <a:br>
              <a:rPr lang="en-US" sz="2000">
                <a:latin typeface="Georgia"/>
              </a:rPr>
            </a:br>
            <a:r>
              <a:rPr lang="en-US" sz="2000">
                <a:latin typeface="Georgia"/>
              </a:rPr>
              <a:t>CPI vs Commodities</a:t>
            </a:r>
            <a:br>
              <a:rPr lang="en-US" sz="2000">
                <a:latin typeface="Georgia"/>
              </a:rPr>
            </a:br>
            <a:r>
              <a:rPr lang="en-US" sz="2000">
                <a:latin typeface="Georgia"/>
              </a:rPr>
              <a:t> (2010~2024)</a:t>
            </a:r>
            <a:br>
              <a:rPr lang="en-US" sz="3400">
                <a:latin typeface="Georgia"/>
              </a:rPr>
            </a:br>
            <a:endParaRPr lang="en-US" sz="3400">
              <a:latin typeface="Georgia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22480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042549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283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03FB74-763F-2EE3-CE9E-E01B08F27B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0" r="1" b="1072"/>
          <a:stretch/>
        </p:blipFill>
        <p:spPr>
          <a:xfrm>
            <a:off x="4054251" y="1298218"/>
            <a:ext cx="3703320" cy="1694234"/>
          </a:xfrm>
          <a:prstGeom prst="rect">
            <a:avLst/>
          </a:prstGeom>
        </p:spPr>
      </p:pic>
      <p:pic>
        <p:nvPicPr>
          <p:cNvPr id="4" name="Content Placeholder 3" descr="A graph with blue lines&#10;&#10;Description automatically generated">
            <a:extLst>
              <a:ext uri="{FF2B5EF4-FFF2-40B4-BE49-F238E27FC236}">
                <a16:creationId xmlns:a16="http://schemas.microsoft.com/office/drawing/2014/main" id="{4BABC11D-D464-5614-4F49-FB80982A23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41" r="1" b="1"/>
          <a:stretch/>
        </p:blipFill>
        <p:spPr>
          <a:xfrm>
            <a:off x="4054251" y="3979729"/>
            <a:ext cx="3703320" cy="1694234"/>
          </a:xfrm>
          <a:prstGeom prst="rect">
            <a:avLst/>
          </a:prstGeom>
        </p:spPr>
      </p:pic>
      <p:pic>
        <p:nvPicPr>
          <p:cNvPr id="7" name="Picture 6" descr="A graph with blue and white bars&#10;&#10;Description automatically generated">
            <a:extLst>
              <a:ext uri="{FF2B5EF4-FFF2-40B4-BE49-F238E27FC236}">
                <a16:creationId xmlns:a16="http://schemas.microsoft.com/office/drawing/2014/main" id="{4C841984-DA9F-B14B-D7A2-68B3DA3371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83" r="1" b="1"/>
          <a:stretch/>
        </p:blipFill>
        <p:spPr>
          <a:xfrm>
            <a:off x="7932998" y="3979727"/>
            <a:ext cx="3703320" cy="16942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A0E2AD-DF53-8B62-63BB-B9E7F24EF902}"/>
              </a:ext>
            </a:extLst>
          </p:cNvPr>
          <p:cNvSpPr txBox="1"/>
          <p:nvPr/>
        </p:nvSpPr>
        <p:spPr>
          <a:xfrm>
            <a:off x="236167" y="2355315"/>
            <a:ext cx="2835165" cy="39241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>
                <a:ea typeface="+mn-lt"/>
                <a:cs typeface="+mn-lt"/>
              </a:rPr>
              <a:t>CPI vs. Platinum:</a:t>
            </a:r>
            <a:r>
              <a:rPr lang="en-US" sz="1100">
                <a:ea typeface="+mn-lt"/>
                <a:cs typeface="+mn-lt"/>
              </a:rPr>
              <a:t> Centers around 0.2, with a slight skew toward positive correlations.</a:t>
            </a:r>
            <a:endParaRPr lang="en-US" sz="1100"/>
          </a:p>
          <a:p>
            <a:endParaRPr lang="en-US">
              <a:ea typeface="+mn-lt"/>
              <a:cs typeface="+mn-lt"/>
            </a:endParaRPr>
          </a:p>
          <a:p>
            <a:r>
              <a:rPr lang="en-US" sz="1100" b="1">
                <a:ea typeface="+mn-lt"/>
                <a:cs typeface="+mn-lt"/>
              </a:rPr>
              <a:t>CPI vs. Gold and Copper</a:t>
            </a:r>
            <a:r>
              <a:rPr lang="en-US" sz="1100">
                <a:ea typeface="+mn-lt"/>
                <a:cs typeface="+mn-lt"/>
              </a:rPr>
              <a:t>: Both show similarities, with the rolling correlation mainly centered near 0 but with a wider spread, ranging from around -0.6 to 0.6.</a:t>
            </a:r>
            <a:endParaRPr lang="en-US" sz="1100"/>
          </a:p>
          <a:p>
            <a:endParaRPr lang="en-US" sz="1100">
              <a:ea typeface="+mn-lt"/>
              <a:cs typeface="+mn-lt"/>
            </a:endParaRPr>
          </a:p>
          <a:p>
            <a:r>
              <a:rPr lang="en-US" sz="1100" b="1">
                <a:ea typeface="+mn-lt"/>
                <a:cs typeface="+mn-lt"/>
              </a:rPr>
              <a:t>CPI vs. Silver</a:t>
            </a:r>
            <a:r>
              <a:rPr lang="en-US" sz="1100">
                <a:ea typeface="+mn-lt"/>
                <a:cs typeface="+mn-lt"/>
              </a:rPr>
              <a:t>: This has a wider distribution, skewed slightly toward positive correlations, but includes some strong negative correlations as well.</a:t>
            </a:r>
          </a:p>
          <a:p>
            <a:endParaRPr lang="en-US" sz="1100"/>
          </a:p>
          <a:p>
            <a:r>
              <a:rPr lang="en-US" sz="1100">
                <a:ea typeface="+mn-lt"/>
                <a:cs typeface="+mn-lt"/>
              </a:rPr>
              <a:t>Commodities like Platinum and Gold have varying degrees of correlation with CPI, which might help investors understand how these assets react to inflationary trends.</a:t>
            </a:r>
            <a:endParaRPr lang="en-US"/>
          </a:p>
          <a:p>
            <a:r>
              <a:rPr lang="en-US" sz="1100">
                <a:ea typeface="+mn-lt"/>
                <a:cs typeface="+mn-lt"/>
              </a:rPr>
              <a:t>The spread and skewness indicate variability in how consistently the commodities align with changes in CPI.</a:t>
            </a:r>
            <a:endParaRPr lang="en-US"/>
          </a:p>
          <a:p>
            <a:endParaRPr lang="en-US" sz="1100"/>
          </a:p>
          <a:p>
            <a:endParaRPr lang="en-US" sz="11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F80EA3-BA27-4670-23A2-0AB3EB526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1499" y="1299998"/>
            <a:ext cx="3686832" cy="169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71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6789" y="2986175"/>
            <a:ext cx="6714699" cy="905181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rgbClr val="FFFFFF"/>
                </a:solidFill>
                <a:latin typeface="Georgia"/>
              </a:rPr>
              <a:t>Conclusions/</a:t>
            </a:r>
            <a:br>
              <a:rPr lang="en-US" sz="4800" b="1">
                <a:solidFill>
                  <a:srgbClr val="FFFFFF"/>
                </a:solidFill>
                <a:latin typeface="Georgia"/>
              </a:rPr>
            </a:br>
            <a:r>
              <a:rPr lang="en-US" sz="4800" b="1">
                <a:solidFill>
                  <a:srgbClr val="FFFFFF"/>
                </a:solidFill>
                <a:latin typeface="Georgia"/>
              </a:rPr>
              <a:t>Future Work</a:t>
            </a:r>
            <a:endParaRPr lang="en-US" b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04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62E38-8A91-6292-66ED-A769756B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61" y="3054417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>
                <a:solidFill>
                  <a:srgbClr val="FFFFFF"/>
                </a:solidFill>
                <a:latin typeface="Georgia"/>
              </a:rPr>
              <a:t>Factors vs. Commodity Price Returns </a:t>
            </a:r>
            <a:endParaRPr lang="en-US" sz="2800" kern="120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EACA-3D9F-ADFB-AEE9-38896ED4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latin typeface="Georgia"/>
              </a:rPr>
              <a:t>What can we conclude and what to do next</a:t>
            </a:r>
            <a:r>
              <a:rPr lang="en-US" sz="2000" kern="1200">
                <a:solidFill>
                  <a:srgbClr val="FFFFFF"/>
                </a:solidFill>
                <a:latin typeface="Georgia"/>
              </a:rPr>
              <a:t>? </a:t>
            </a:r>
            <a:endParaRPr lang="en-US">
              <a:latin typeface="Georgi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474E98-98FE-F179-E9C5-CC54FA3384F1}"/>
              </a:ext>
            </a:extLst>
          </p:cNvPr>
          <p:cNvSpPr txBox="1"/>
          <p:nvPr/>
        </p:nvSpPr>
        <p:spPr>
          <a:xfrm>
            <a:off x="4143082" y="-405201"/>
            <a:ext cx="7840980" cy="78483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Georgia"/>
            </a:endParaRPr>
          </a:p>
          <a:p>
            <a:pPr marL="285750" indent="-285750" algn="l">
              <a:buFont typeface="Arial"/>
              <a:buChar char="•"/>
            </a:pPr>
            <a:endParaRPr lang="en-US">
              <a:latin typeface="Georgia"/>
            </a:endParaRPr>
          </a:p>
          <a:p>
            <a:r>
              <a:rPr lang="en-US" sz="1600" b="1">
                <a:latin typeface="Georgia"/>
              </a:rPr>
              <a:t>Conclusions</a:t>
            </a:r>
          </a:p>
          <a:p>
            <a:endParaRPr lang="en-US" sz="1600" b="1">
              <a:latin typeface="Georg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Georgia"/>
              </a:rPr>
              <a:t>Commodities do not derive as much correlation from macroeconomic factors as public equities and fixed income instruments</a:t>
            </a:r>
            <a:endParaRPr lang="en-US" sz="1600"/>
          </a:p>
          <a:p>
            <a:endParaRPr lang="en-US" sz="1600">
              <a:latin typeface="Georg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Georgia"/>
              </a:rPr>
              <a:t>Certain commodities, especially gold and silver, evidently act as safe hedges against traditional investments</a:t>
            </a:r>
          </a:p>
          <a:p>
            <a:pPr marL="285750" indent="-285750">
              <a:buFont typeface="Arial"/>
              <a:buChar char="•"/>
            </a:pPr>
            <a:endParaRPr lang="en-US" sz="1600">
              <a:latin typeface="Georg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Georgia"/>
              </a:rPr>
              <a:t>The larger the time-period for data sourcing the better the results</a:t>
            </a:r>
          </a:p>
          <a:p>
            <a:pPr marL="285750" indent="-285750">
              <a:buFont typeface="Arial"/>
              <a:buChar char="•"/>
            </a:pPr>
            <a:endParaRPr lang="en-US" sz="1600">
              <a:latin typeface="Georg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Georgia"/>
              </a:rPr>
              <a:t>International markets and factors affect commodities differently than domestic markets and factors do</a:t>
            </a:r>
            <a:endParaRPr lang="en-US" sz="1600">
              <a:latin typeface="Aptos" panose="020B0004020202020204"/>
            </a:endParaRPr>
          </a:p>
          <a:p>
            <a:endParaRPr lang="en-US" sz="1600">
              <a:latin typeface="Georgia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latin typeface="Georgia"/>
            </a:endParaRPr>
          </a:p>
          <a:p>
            <a:r>
              <a:rPr lang="en-US" sz="1600" b="1">
                <a:latin typeface="Georgia"/>
              </a:rPr>
              <a:t>Future Work</a:t>
            </a:r>
          </a:p>
          <a:p>
            <a:endParaRPr lang="en-US" sz="1600" b="1">
              <a:latin typeface="Georg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Georgia"/>
              </a:rPr>
              <a:t>We will attempt to conduct more complex analysis, such as more Monte Carlo simulations and potentially Spearman and Kendall Rank Correlation as well</a:t>
            </a:r>
          </a:p>
          <a:p>
            <a:pPr marL="285750" indent="-285750">
              <a:buFont typeface="Arial"/>
              <a:buChar char="•"/>
            </a:pPr>
            <a:endParaRPr lang="en-US" sz="1600">
              <a:latin typeface="Georgia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Georgia"/>
              </a:rPr>
              <a:t>Perform a multi-variable regression analysis to predict future commodity prices</a:t>
            </a:r>
          </a:p>
          <a:p>
            <a:pPr marL="285750" indent="-285750">
              <a:buFont typeface="Arial"/>
              <a:buChar char="•"/>
            </a:pPr>
            <a:endParaRPr lang="en-US" sz="1600">
              <a:latin typeface="Georgia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00">
                <a:latin typeface="Georgia"/>
              </a:rPr>
              <a:t>Conduct a situational analysis using time frames when the VIX index is above 20 and below 20 (threshold for economic volatility) and look changes in correlations </a:t>
            </a:r>
          </a:p>
          <a:p>
            <a:endParaRPr lang="en-US" sz="1600">
              <a:latin typeface="Georgia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00">
                <a:latin typeface="Georgia"/>
              </a:rPr>
              <a:t>Continue to speak with industry experts to supplement our findings and analysis with important past and present historical context</a:t>
            </a:r>
          </a:p>
          <a:p>
            <a:pPr marL="285750" indent="-285750">
              <a:buFont typeface="Arial"/>
              <a:buChar char="•"/>
            </a:pPr>
            <a:endParaRPr lang="en-US">
              <a:latin typeface="Georgia"/>
            </a:endParaRPr>
          </a:p>
          <a:p>
            <a:pPr marL="285750" indent="-285750">
              <a:buFont typeface="Arial"/>
              <a:buChar char="•"/>
            </a:pPr>
            <a:endParaRPr lang="en-US"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4075236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8eec281-aaa3-4dae-ac9b-9a398b9215e7}" enabled="0" method="" siteId="{a8eec281-aaa3-4dae-ac9b-9a398b9215e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1437</Words>
  <Application>Microsoft Macintosh PowerPoint</Application>
  <PresentationFormat>Widescreen</PresentationFormat>
  <Paragraphs>167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Arial</vt:lpstr>
      <vt:lpstr>Arial,Sans-Serif</vt:lpstr>
      <vt:lpstr>Calibri</vt:lpstr>
      <vt:lpstr>Courier New</vt:lpstr>
      <vt:lpstr>Georgia</vt:lpstr>
      <vt:lpstr>Helvetica Neue</vt:lpstr>
      <vt:lpstr>office theme</vt:lpstr>
      <vt:lpstr>DS2500 Final Project  Commodities vs. Macroeconomic Factors </vt:lpstr>
      <vt:lpstr>Introduction</vt:lpstr>
      <vt:lpstr>Macroeconomic Factors vs. Commodity Price Returns</vt:lpstr>
      <vt:lpstr>A snippet of the processed data   
 In [26]:   </vt:lpstr>
      <vt:lpstr>Hierarchical Clustering and Collective Heatmap</vt:lpstr>
      <vt:lpstr>PowerPoint Presentation</vt:lpstr>
      <vt:lpstr>Daily Factors</vt:lpstr>
      <vt:lpstr>S&amp;P 500 Prices vs. Commodity Price Returns</vt:lpstr>
      <vt:lpstr>USD/JPY Currency Exchange vs. Commodity Price Returns</vt:lpstr>
      <vt:lpstr>Crude Oil Prices vs. Commodity Price Returns</vt:lpstr>
      <vt:lpstr>Monthly Factors</vt:lpstr>
      <vt:lpstr>Fed Funds Rate vs. Commodity Price Returns</vt:lpstr>
      <vt:lpstr>Unemployment Rate vs. Commodity Price Returns</vt:lpstr>
      <vt:lpstr>PowerPoint Presentation</vt:lpstr>
      <vt:lpstr>Industrial Production vs. Commodity Price Returns</vt:lpstr>
      <vt:lpstr>CPI Data/Growth Rate vs. Commodity Price Returns </vt:lpstr>
      <vt:lpstr>Rolling Correlation Distribution  CPI vs Commodities  (2010~2024) </vt:lpstr>
      <vt:lpstr>Conclusions/ Future Work</vt:lpstr>
      <vt:lpstr>Factors vs. Commodity Price Returns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DS2500 Final Project  Commodities vs. Macroeconomic Factors </dc:title>
  <dc:creator/>
  <cp:lastModifiedBy>Noel Burra</cp:lastModifiedBy>
  <cp:revision>2</cp:revision>
  <dcterms:created xsi:type="dcterms:W3CDTF">2024-11-25T22:17:52Z</dcterms:created>
  <dcterms:modified xsi:type="dcterms:W3CDTF">2024-12-21T05:05:35Z</dcterms:modified>
</cp:coreProperties>
</file>